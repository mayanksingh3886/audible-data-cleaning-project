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Open Sauce Bold" charset="1" panose="00000800000000000000"/>
      <p:regular r:id="rId33"/>
    </p:embeddedFont>
    <p:embeddedFont>
      <p:font typeface="Helios Extended Bold" charset="1" panose="02000805050000020004"/>
      <p:regular r:id="rId34"/>
    </p:embeddedFont>
    <p:embeddedFont>
      <p:font typeface="Glacial Indifference" charset="1" panose="00000000000000000000"/>
      <p:regular r:id="rId35"/>
    </p:embeddedFont>
    <p:embeddedFont>
      <p:font typeface="Guild A Display" charset="1" panose="00000000000000000000"/>
      <p:regular r:id="rId36"/>
    </p:embeddedFont>
    <p:embeddedFont>
      <p:font typeface="Guild B Display" charset="1" panose="00000000000000000000"/>
      <p:regular r:id="rId37"/>
    </p:embeddedFont>
    <p:embeddedFont>
      <p:font typeface="Lato" charset="1" panose="020F0502020204030203"/>
      <p:regular r:id="rId38"/>
    </p:embeddedFont>
    <p:embeddedFont>
      <p:font typeface="Impact" charset="1" panose="020B0806030902050204"/>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pn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 Id="rId7" Target="../media/image15.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 Id="rId9"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 Id="rId9"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 Id="rId8"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 Id="rId9"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 Id="rId9" Target="../media/image4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3.png" Type="http://schemas.openxmlformats.org/officeDocument/2006/relationships/image"/><Relationship Id="rId7" Target="../media/image44.png" Type="http://schemas.openxmlformats.org/officeDocument/2006/relationships/image"/><Relationship Id="rId8" Target="../media/image45.png" Type="http://schemas.openxmlformats.org/officeDocument/2006/relationships/image"/><Relationship Id="rId9" Target="../media/image4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11" Target="../media/image52.png" Type="http://schemas.openxmlformats.org/officeDocument/2006/relationships/image"/><Relationship Id="rId12" Target="../media/image53.png" Type="http://schemas.openxmlformats.org/officeDocument/2006/relationships/image"/><Relationship Id="rId13" Target="../media/image54.png" Type="http://schemas.openxmlformats.org/officeDocument/2006/relationships/image"/><Relationship Id="rId14"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 Id="rId8" Target="../media/image57.png" Type="http://schemas.openxmlformats.org/officeDocument/2006/relationships/image"/><Relationship Id="rId9" Target="../media/image5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59.png" Type="http://schemas.openxmlformats.org/officeDocument/2006/relationships/image"/><Relationship Id="rId7" Target="../media/image60.png" Type="http://schemas.openxmlformats.org/officeDocument/2006/relationships/image"/><Relationship Id="rId8" Target="../media/image61.png" Type="http://schemas.openxmlformats.org/officeDocument/2006/relationships/image"/><Relationship Id="rId9"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png" Type="http://schemas.openxmlformats.org/officeDocument/2006/relationships/image"/><Relationship Id="rId11"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2.png" Type="http://schemas.openxmlformats.org/officeDocument/2006/relationships/image"/><Relationship Id="rId7" Target="../media/image63.pn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7.png" Type="http://schemas.openxmlformats.org/officeDocument/2006/relationships/image"/><Relationship Id="rId7" Target="../media/image68.png" Type="http://schemas.openxmlformats.org/officeDocument/2006/relationships/image"/><Relationship Id="rId8" Target="../media/image69.png" Type="http://schemas.openxmlformats.org/officeDocument/2006/relationships/image"/><Relationship Id="rId9" Target="../media/image7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1.png" Type="http://schemas.openxmlformats.org/officeDocument/2006/relationships/image"/><Relationship Id="rId7" Target="../media/image68.png" Type="http://schemas.openxmlformats.org/officeDocument/2006/relationships/image"/><Relationship Id="rId8" Target="../media/image72.png" Type="http://schemas.openxmlformats.org/officeDocument/2006/relationships/image"/><Relationship Id="rId9" Target="../media/image7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4.png" Type="http://schemas.openxmlformats.org/officeDocument/2006/relationships/image"/><Relationship Id="rId7" Target="../media/image26.png" Type="http://schemas.openxmlformats.org/officeDocument/2006/relationships/image"/><Relationship Id="rId8" Target="../media/image75.png" Type="http://schemas.openxmlformats.org/officeDocument/2006/relationships/image"/><Relationship Id="rId9" Target="../media/image7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7.png" Type="http://schemas.openxmlformats.org/officeDocument/2006/relationships/image"/><Relationship Id="rId7" Target="../media/image78.png" Type="http://schemas.openxmlformats.org/officeDocument/2006/relationships/image"/><Relationship Id="rId8" Target="../media/image6.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9.png" Type="http://schemas.openxmlformats.org/officeDocument/2006/relationships/image"/><Relationship Id="rId7" Target="../media/image80.png" Type="http://schemas.openxmlformats.org/officeDocument/2006/relationships/image"/><Relationship Id="rId8" Target="../media/image81.png" Type="http://schemas.openxmlformats.org/officeDocument/2006/relationships/image"/><Relationship Id="rId9" Target="../media/image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2.png" Type="http://schemas.openxmlformats.org/officeDocument/2006/relationships/image"/><Relationship Id="rId7" Target="../media/image83.png" Type="http://schemas.openxmlformats.org/officeDocument/2006/relationships/image"/><Relationship Id="rId8" Target="../media/image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4.png" Type="http://schemas.openxmlformats.org/officeDocument/2006/relationships/image"/><Relationship Id="rId5" Target="../media/image85.png" Type="http://schemas.openxmlformats.org/officeDocument/2006/relationships/image"/><Relationship Id="rId6" Target="../media/image86.png" Type="http://schemas.openxmlformats.org/officeDocument/2006/relationships/image"/><Relationship Id="rId7"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0" y="5015272"/>
            <a:ext cx="10851811" cy="5271728"/>
          </a:xfrm>
          <a:custGeom>
            <a:avLst/>
            <a:gdLst/>
            <a:ahLst/>
            <a:cxnLst/>
            <a:rect r="r" b="b" t="t" l="l"/>
            <a:pathLst>
              <a:path h="5271728" w="10851811">
                <a:moveTo>
                  <a:pt x="0" y="0"/>
                </a:moveTo>
                <a:lnTo>
                  <a:pt x="10851811" y="0"/>
                </a:lnTo>
                <a:lnTo>
                  <a:pt x="10851811" y="5271728"/>
                </a:lnTo>
                <a:lnTo>
                  <a:pt x="0" y="5271728"/>
                </a:lnTo>
                <a:lnTo>
                  <a:pt x="0" y="0"/>
                </a:lnTo>
                <a:close/>
              </a:path>
            </a:pathLst>
          </a:custGeom>
          <a:blipFill>
            <a:blip r:embed="rId2">
              <a:alphaModFix amt="89000"/>
            </a:blip>
            <a:stretch>
              <a:fillRect l="-10231" t="-4624" r="-11052" b="-20206"/>
            </a:stretch>
          </a:blipFill>
        </p:spPr>
      </p:sp>
      <p:sp>
        <p:nvSpPr>
          <p:cNvPr name="Freeform 3" id="3"/>
          <p:cNvSpPr/>
          <p:nvPr/>
        </p:nvSpPr>
        <p:spPr>
          <a:xfrm flipH="false" flipV="false" rot="-2083342">
            <a:off x="12347359" y="-1716641"/>
            <a:ext cx="7511977" cy="9699130"/>
          </a:xfrm>
          <a:custGeom>
            <a:avLst/>
            <a:gdLst/>
            <a:ahLst/>
            <a:cxnLst/>
            <a:rect r="r" b="b" t="t" l="l"/>
            <a:pathLst>
              <a:path h="9699130" w="7511977">
                <a:moveTo>
                  <a:pt x="0" y="0"/>
                </a:moveTo>
                <a:lnTo>
                  <a:pt x="7511976" y="0"/>
                </a:lnTo>
                <a:lnTo>
                  <a:pt x="7511976" y="9699131"/>
                </a:lnTo>
                <a:lnTo>
                  <a:pt x="0" y="96991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051194" y="2234314"/>
            <a:ext cx="6236806" cy="8052686"/>
          </a:xfrm>
          <a:custGeom>
            <a:avLst/>
            <a:gdLst/>
            <a:ahLst/>
            <a:cxnLst/>
            <a:rect r="r" b="b" t="t" l="l"/>
            <a:pathLst>
              <a:path h="8052686" w="6236806">
                <a:moveTo>
                  <a:pt x="0" y="0"/>
                </a:moveTo>
                <a:lnTo>
                  <a:pt x="6236806" y="0"/>
                </a:lnTo>
                <a:lnTo>
                  <a:pt x="6236806" y="8052686"/>
                </a:lnTo>
                <a:lnTo>
                  <a:pt x="0" y="80526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638957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7"/>
            <a:stretch>
              <a:fillRect l="0" t="0" r="-9528" b="0"/>
            </a:stretch>
          </a:blipFill>
        </p:spPr>
      </p:sp>
      <p:sp>
        <p:nvSpPr>
          <p:cNvPr name="TextBox 7" id="7"/>
          <p:cNvSpPr txBox="true"/>
          <p:nvPr/>
        </p:nvSpPr>
        <p:spPr>
          <a:xfrm rot="0">
            <a:off x="2480308" y="590589"/>
            <a:ext cx="8371503" cy="3332683"/>
          </a:xfrm>
          <a:prstGeom prst="rect">
            <a:avLst/>
          </a:prstGeom>
        </p:spPr>
        <p:txBody>
          <a:bodyPr anchor="t" rtlCol="false" tIns="0" lIns="0" bIns="0" rIns="0">
            <a:spAutoFit/>
          </a:bodyPr>
          <a:lstStyle/>
          <a:p>
            <a:pPr algn="l">
              <a:lnSpc>
                <a:spcPts val="8474"/>
              </a:lnSpc>
            </a:pPr>
            <a:r>
              <a:rPr lang="en-US" sz="10335" spc="-744" b="true">
                <a:solidFill>
                  <a:srgbClr val="383738"/>
                </a:solidFill>
                <a:latin typeface="Open Sauce Bold"/>
                <a:ea typeface="Open Sauce Bold"/>
                <a:cs typeface="Open Sauce Bold"/>
                <a:sym typeface="Open Sauce Bold"/>
              </a:rPr>
              <a:t>Audibl</a:t>
            </a:r>
            <a:r>
              <a:rPr lang="en-US" b="true" sz="10335" spc="-744">
                <a:solidFill>
                  <a:srgbClr val="383738"/>
                </a:solidFill>
                <a:latin typeface="Open Sauce Bold"/>
                <a:ea typeface="Open Sauce Bold"/>
                <a:cs typeface="Open Sauce Bold"/>
                <a:sym typeface="Open Sauce Bold"/>
              </a:rPr>
              <a:t>e Data Cleaning </a:t>
            </a:r>
          </a:p>
          <a:p>
            <a:pPr algn="l">
              <a:lnSpc>
                <a:spcPts val="8474"/>
              </a:lnSpc>
            </a:pPr>
          </a:p>
        </p:txBody>
      </p:sp>
      <p:sp>
        <p:nvSpPr>
          <p:cNvPr name="TextBox 8" id="8"/>
          <p:cNvSpPr txBox="true"/>
          <p:nvPr/>
        </p:nvSpPr>
        <p:spPr>
          <a:xfrm rot="0">
            <a:off x="2655819" y="2870207"/>
            <a:ext cx="9599177" cy="843476"/>
          </a:xfrm>
          <a:prstGeom prst="rect">
            <a:avLst/>
          </a:prstGeom>
        </p:spPr>
        <p:txBody>
          <a:bodyPr anchor="t" rtlCol="false" tIns="0" lIns="0" bIns="0" rIns="0">
            <a:spAutoFit/>
          </a:bodyPr>
          <a:lstStyle/>
          <a:p>
            <a:pPr algn="l">
              <a:lnSpc>
                <a:spcPts val="6993"/>
              </a:lnSpc>
            </a:pPr>
            <a:r>
              <a:rPr lang="en-US" sz="4924" b="true">
                <a:solidFill>
                  <a:srgbClr val="383738"/>
                </a:solidFill>
                <a:latin typeface="Open Sauce Bold"/>
                <a:ea typeface="Open Sauce Bold"/>
                <a:cs typeface="Open Sauce Bold"/>
                <a:sym typeface="Open Sauce Bold"/>
              </a:rPr>
              <a:t>Case Study</a:t>
            </a:r>
          </a:p>
        </p:txBody>
      </p:sp>
      <p:sp>
        <p:nvSpPr>
          <p:cNvPr name="TextBox 9" id="9"/>
          <p:cNvSpPr txBox="true"/>
          <p:nvPr/>
        </p:nvSpPr>
        <p:spPr>
          <a:xfrm rot="0">
            <a:off x="14779303" y="9329831"/>
            <a:ext cx="3117578" cy="576420"/>
          </a:xfrm>
          <a:prstGeom prst="rect">
            <a:avLst/>
          </a:prstGeom>
        </p:spPr>
        <p:txBody>
          <a:bodyPr anchor="t" rtlCol="false" tIns="0" lIns="0" bIns="0" rIns="0">
            <a:spAutoFit/>
          </a:bodyPr>
          <a:lstStyle/>
          <a:p>
            <a:pPr algn="l">
              <a:lnSpc>
                <a:spcPts val="4675"/>
              </a:lnSpc>
            </a:pPr>
            <a:r>
              <a:rPr lang="en-US" sz="3292" b="true">
                <a:solidFill>
                  <a:srgbClr val="383738"/>
                </a:solidFill>
                <a:latin typeface="Open Sauce Bold"/>
                <a:ea typeface="Open Sauce Bold"/>
                <a:cs typeface="Open Sauce Bold"/>
                <a:sym typeface="Open Sauce Bold"/>
              </a:rPr>
              <a:t>Mayank Singh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918116" y="6939158"/>
            <a:ext cx="3269421" cy="4178184"/>
          </a:xfrm>
          <a:custGeom>
            <a:avLst/>
            <a:gdLst/>
            <a:ahLst/>
            <a:cxnLst/>
            <a:rect r="r" b="b" t="t" l="l"/>
            <a:pathLst>
              <a:path h="4178184" w="3269421">
                <a:moveTo>
                  <a:pt x="0" y="0"/>
                </a:moveTo>
                <a:lnTo>
                  <a:pt x="3269421" y="0"/>
                </a:lnTo>
                <a:lnTo>
                  <a:pt x="3269421" y="4178184"/>
                </a:lnTo>
                <a:lnTo>
                  <a:pt x="0" y="4178184"/>
                </a:lnTo>
                <a:lnTo>
                  <a:pt x="0" y="0"/>
                </a:lnTo>
                <a:close/>
              </a:path>
            </a:pathLst>
          </a:custGeom>
          <a:blipFill>
            <a:blip r:embed="rId6"/>
            <a:stretch>
              <a:fillRect l="0" t="-1451" r="0" b="-1451"/>
            </a:stretch>
          </a:blipFill>
        </p:spPr>
      </p:sp>
      <p:sp>
        <p:nvSpPr>
          <p:cNvPr name="TextBox 6" id="6"/>
          <p:cNvSpPr txBox="true"/>
          <p:nvPr/>
        </p:nvSpPr>
        <p:spPr>
          <a:xfrm rot="0">
            <a:off x="3601331" y="1731147"/>
            <a:ext cx="9464543" cy="1446575"/>
          </a:xfrm>
          <a:prstGeom prst="rect">
            <a:avLst/>
          </a:prstGeom>
        </p:spPr>
        <p:txBody>
          <a:bodyPr anchor="t" rtlCol="false" tIns="0" lIns="0" bIns="0" rIns="0">
            <a:spAutoFit/>
          </a:bodyPr>
          <a:lstStyle/>
          <a:p>
            <a:pPr algn="l" marL="0" indent="0" lvl="0">
              <a:lnSpc>
                <a:spcPts val="11363"/>
              </a:lnSpc>
            </a:pPr>
            <a:r>
              <a:rPr lang="en-US" b="true" sz="8116" spc="405">
                <a:solidFill>
                  <a:srgbClr val="000000"/>
                </a:solidFill>
                <a:latin typeface="Helios Extended Bold"/>
                <a:ea typeface="Helios Extended Bold"/>
                <a:cs typeface="Helios Extended Bold"/>
                <a:sym typeface="Helios Extended Bold"/>
              </a:rPr>
              <a:t>PURPOSE</a:t>
            </a:r>
          </a:p>
        </p:txBody>
      </p:sp>
      <p:sp>
        <p:nvSpPr>
          <p:cNvPr name="TextBox 7" id="7"/>
          <p:cNvSpPr txBox="true"/>
          <p:nvPr/>
        </p:nvSpPr>
        <p:spPr>
          <a:xfrm rot="0">
            <a:off x="3601331" y="3953472"/>
            <a:ext cx="13674420" cy="2836471"/>
          </a:xfrm>
          <a:prstGeom prst="rect">
            <a:avLst/>
          </a:prstGeom>
        </p:spPr>
        <p:txBody>
          <a:bodyPr anchor="t" rtlCol="false" tIns="0" lIns="0" bIns="0" rIns="0">
            <a:spAutoFit/>
          </a:bodyPr>
          <a:lstStyle/>
          <a:p>
            <a:pPr algn="just" marL="0" indent="0" lvl="0">
              <a:lnSpc>
                <a:spcPts val="5730"/>
              </a:lnSpc>
            </a:pPr>
            <a:r>
              <a:rPr lang="en-US" sz="3581" spc="358">
                <a:solidFill>
                  <a:srgbClr val="000000"/>
                </a:solidFill>
                <a:latin typeface="Glacial Indifference"/>
                <a:ea typeface="Glacial Indifference"/>
                <a:cs typeface="Glacial Indifference"/>
                <a:sym typeface="Glacial Indifference"/>
              </a:rPr>
              <a:t>U</a:t>
            </a:r>
            <a:r>
              <a:rPr lang="en-US" sz="3581" spc="358">
                <a:solidFill>
                  <a:srgbClr val="000000"/>
                </a:solidFill>
                <a:latin typeface="Glacial Indifference"/>
                <a:ea typeface="Glacial Indifference"/>
                <a:cs typeface="Glacial Indifference"/>
                <a:sym typeface="Glacial Indifference"/>
              </a:rPr>
              <a:t>tilize Power Query Editor in Excel to clean and standardize an Audible dataset. Tasks include formatting columns, ensuring data consistency, and preparing the dataset for analysis.</a:t>
            </a:r>
          </a:p>
        </p:txBody>
      </p:sp>
      <p:sp>
        <p:nvSpPr>
          <p:cNvPr name="Freeform 8" id="8"/>
          <p:cNvSpPr/>
          <p:nvPr/>
        </p:nvSpPr>
        <p:spPr>
          <a:xfrm flipH="false" flipV="false" rot="0">
            <a:off x="1635147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7"/>
            <a:stretch>
              <a:fillRect l="0" t="0" r="-9528"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376575">
            <a:off x="-832584" y="-3562851"/>
            <a:ext cx="7511977" cy="9699130"/>
          </a:xfrm>
          <a:custGeom>
            <a:avLst/>
            <a:gdLst/>
            <a:ahLst/>
            <a:cxnLst/>
            <a:rect r="r" b="b" t="t" l="l"/>
            <a:pathLst>
              <a:path h="9699130" w="7511977">
                <a:moveTo>
                  <a:pt x="0" y="0"/>
                </a:moveTo>
                <a:lnTo>
                  <a:pt x="7511977" y="0"/>
                </a:lnTo>
                <a:lnTo>
                  <a:pt x="7511977"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505412">
            <a:off x="11698623" y="-3293298"/>
            <a:ext cx="7511977" cy="9699130"/>
          </a:xfrm>
          <a:custGeom>
            <a:avLst/>
            <a:gdLst/>
            <a:ahLst/>
            <a:cxnLst/>
            <a:rect r="r" b="b" t="t" l="l"/>
            <a:pathLst>
              <a:path h="9699130" w="7511977">
                <a:moveTo>
                  <a:pt x="7511976" y="0"/>
                </a:moveTo>
                <a:lnTo>
                  <a:pt x="0" y="0"/>
                </a:lnTo>
                <a:lnTo>
                  <a:pt x="0" y="9699130"/>
                </a:lnTo>
                <a:lnTo>
                  <a:pt x="7511976" y="9699130"/>
                </a:lnTo>
                <a:lnTo>
                  <a:pt x="75119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19994">
            <a:off x="-385117" y="2619864"/>
            <a:ext cx="8754851" cy="11303875"/>
          </a:xfrm>
          <a:custGeom>
            <a:avLst/>
            <a:gdLst/>
            <a:ahLst/>
            <a:cxnLst/>
            <a:rect r="r" b="b" t="t" l="l"/>
            <a:pathLst>
              <a:path h="11303875" w="8754851">
                <a:moveTo>
                  <a:pt x="8754851" y="0"/>
                </a:moveTo>
                <a:lnTo>
                  <a:pt x="0" y="0"/>
                </a:lnTo>
                <a:lnTo>
                  <a:pt x="0" y="11303875"/>
                </a:lnTo>
                <a:lnTo>
                  <a:pt x="8754851" y="11303875"/>
                </a:lnTo>
                <a:lnTo>
                  <a:pt x="87548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144000" y="2863507"/>
            <a:ext cx="6215308" cy="2684389"/>
          </a:xfrm>
          <a:custGeom>
            <a:avLst/>
            <a:gdLst/>
            <a:ahLst/>
            <a:cxnLst/>
            <a:rect r="r" b="b" t="t" l="l"/>
            <a:pathLst>
              <a:path h="2684389" w="6215308">
                <a:moveTo>
                  <a:pt x="0" y="0"/>
                </a:moveTo>
                <a:lnTo>
                  <a:pt x="6215308" y="0"/>
                </a:lnTo>
                <a:lnTo>
                  <a:pt x="6215308" y="2684389"/>
                </a:lnTo>
                <a:lnTo>
                  <a:pt x="0" y="2684389"/>
                </a:lnTo>
                <a:lnTo>
                  <a:pt x="0" y="0"/>
                </a:lnTo>
                <a:close/>
              </a:path>
            </a:pathLst>
          </a:custGeom>
          <a:blipFill>
            <a:blip r:embed="rId4"/>
            <a:stretch>
              <a:fillRect l="0" t="0" r="0" b="0"/>
            </a:stretch>
          </a:blipFill>
        </p:spPr>
      </p:sp>
      <p:sp>
        <p:nvSpPr>
          <p:cNvPr name="Freeform 6" id="6"/>
          <p:cNvSpPr/>
          <p:nvPr/>
        </p:nvSpPr>
        <p:spPr>
          <a:xfrm flipH="false" flipV="false" rot="0">
            <a:off x="7246747" y="6107905"/>
            <a:ext cx="10875611" cy="517886"/>
          </a:xfrm>
          <a:custGeom>
            <a:avLst/>
            <a:gdLst/>
            <a:ahLst/>
            <a:cxnLst/>
            <a:rect r="r" b="b" t="t" l="l"/>
            <a:pathLst>
              <a:path h="517886" w="10875611">
                <a:moveTo>
                  <a:pt x="0" y="0"/>
                </a:moveTo>
                <a:lnTo>
                  <a:pt x="10875610" y="0"/>
                </a:lnTo>
                <a:lnTo>
                  <a:pt x="10875610" y="517886"/>
                </a:lnTo>
                <a:lnTo>
                  <a:pt x="0" y="517886"/>
                </a:lnTo>
                <a:lnTo>
                  <a:pt x="0" y="0"/>
                </a:lnTo>
                <a:close/>
              </a:path>
            </a:pathLst>
          </a:custGeom>
          <a:blipFill>
            <a:blip r:embed="rId5"/>
            <a:stretch>
              <a:fillRect l="0" t="0" r="0" b="0"/>
            </a:stretch>
          </a:blipFill>
        </p:spPr>
      </p:sp>
      <p:sp>
        <p:nvSpPr>
          <p:cNvPr name="Freeform 7" id="7"/>
          <p:cNvSpPr/>
          <p:nvPr/>
        </p:nvSpPr>
        <p:spPr>
          <a:xfrm flipH="false" flipV="false" rot="0">
            <a:off x="8912166" y="7533196"/>
            <a:ext cx="2677915" cy="1054936"/>
          </a:xfrm>
          <a:custGeom>
            <a:avLst/>
            <a:gdLst/>
            <a:ahLst/>
            <a:cxnLst/>
            <a:rect r="r" b="b" t="t" l="l"/>
            <a:pathLst>
              <a:path h="1054936" w="2677915">
                <a:moveTo>
                  <a:pt x="0" y="0"/>
                </a:moveTo>
                <a:lnTo>
                  <a:pt x="2677914" y="0"/>
                </a:lnTo>
                <a:lnTo>
                  <a:pt x="2677914" y="1054936"/>
                </a:lnTo>
                <a:lnTo>
                  <a:pt x="0" y="1054936"/>
                </a:lnTo>
                <a:lnTo>
                  <a:pt x="0" y="0"/>
                </a:lnTo>
                <a:close/>
              </a:path>
            </a:pathLst>
          </a:custGeom>
          <a:blipFill>
            <a:blip r:embed="rId6"/>
            <a:stretch>
              <a:fillRect l="0" t="0" r="0" b="0"/>
            </a:stretch>
          </a:blipFill>
        </p:spPr>
      </p:sp>
      <p:sp>
        <p:nvSpPr>
          <p:cNvPr name="TextBox 8" id="8"/>
          <p:cNvSpPr txBox="true"/>
          <p:nvPr/>
        </p:nvSpPr>
        <p:spPr>
          <a:xfrm rot="0">
            <a:off x="3277029" y="1262060"/>
            <a:ext cx="13630611" cy="1463713"/>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STANDARDIZE THE NAME COLUMN TO ENSURE CONSISTENT TITLE CASING.</a:t>
            </a:r>
          </a:p>
          <a:p>
            <a:pPr algn="just">
              <a:lnSpc>
                <a:spcPts val="3533"/>
              </a:lnSpc>
            </a:pPr>
          </a:p>
          <a:p>
            <a:pPr algn="just" marL="0" indent="0" lvl="0">
              <a:lnSpc>
                <a:spcPts val="610"/>
              </a:lnSpc>
            </a:pPr>
          </a:p>
        </p:txBody>
      </p:sp>
      <p:sp>
        <p:nvSpPr>
          <p:cNvPr name="TextBox 9" id="9"/>
          <p:cNvSpPr txBox="true"/>
          <p:nvPr/>
        </p:nvSpPr>
        <p:spPr>
          <a:xfrm rot="0">
            <a:off x="2256878" y="2861432"/>
            <a:ext cx="6409513" cy="235585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Let’s start by selecting a blank workbook and then go to “Get Data” in Data tab followed by “From File” and then “From Workbook”. </a:t>
            </a:r>
          </a:p>
        </p:txBody>
      </p:sp>
      <p:sp>
        <p:nvSpPr>
          <p:cNvPr name="TextBox 10" id="10"/>
          <p:cNvSpPr txBox="true"/>
          <p:nvPr/>
        </p:nvSpPr>
        <p:spPr>
          <a:xfrm rot="0">
            <a:off x="1980098" y="1143840"/>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01</a:t>
            </a:r>
          </a:p>
        </p:txBody>
      </p:sp>
      <p:sp>
        <p:nvSpPr>
          <p:cNvPr name="TextBox 11" id="11"/>
          <p:cNvSpPr txBox="true"/>
          <p:nvPr/>
        </p:nvSpPr>
        <p:spPr>
          <a:xfrm rot="0">
            <a:off x="2256878" y="6070166"/>
            <a:ext cx="6409513"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Choose the file from your device</a:t>
            </a:r>
          </a:p>
        </p:txBody>
      </p:sp>
      <p:sp>
        <p:nvSpPr>
          <p:cNvPr name="TextBox 12" id="12"/>
          <p:cNvSpPr txBox="true"/>
          <p:nvPr/>
        </p:nvSpPr>
        <p:spPr>
          <a:xfrm rot="0">
            <a:off x="2256878" y="7785325"/>
            <a:ext cx="6409513"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Now, click on “Transform” button .</a:t>
            </a:r>
          </a:p>
        </p:txBody>
      </p:sp>
      <p:sp>
        <p:nvSpPr>
          <p:cNvPr name="TextBox 13" id="13"/>
          <p:cNvSpPr txBox="true"/>
          <p:nvPr/>
        </p:nvSpPr>
        <p:spPr>
          <a:xfrm rot="0">
            <a:off x="14418589" y="8046145"/>
            <a:ext cx="3288269" cy="1757628"/>
          </a:xfrm>
          <a:prstGeom prst="rect">
            <a:avLst/>
          </a:prstGeom>
        </p:spPr>
        <p:txBody>
          <a:bodyPr anchor="t" rtlCol="false" tIns="0" lIns="0" bIns="0" rIns="0">
            <a:spAutoFit/>
          </a:bodyPr>
          <a:lstStyle/>
          <a:p>
            <a:pPr algn="just" marL="0" indent="0" lvl="0">
              <a:lnSpc>
                <a:spcPts val="4765"/>
              </a:lnSpc>
            </a:pPr>
            <a:r>
              <a:rPr lang="en-US" sz="2803">
                <a:solidFill>
                  <a:srgbClr val="000000"/>
                </a:solidFill>
                <a:latin typeface="Guild B Display"/>
                <a:ea typeface="Guild B Display"/>
                <a:cs typeface="Guild B Display"/>
                <a:sym typeface="Guild B Display"/>
              </a:rPr>
              <a:t>Great Job ! The data is ready to work on in Power Query</a:t>
            </a:r>
          </a:p>
        </p:txBody>
      </p:sp>
      <p:sp>
        <p:nvSpPr>
          <p:cNvPr name="Freeform 14" id="14"/>
          <p:cNvSpPr/>
          <p:nvPr/>
        </p:nvSpPr>
        <p:spPr>
          <a:xfrm flipH="false" flipV="false" rot="0">
            <a:off x="1635147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7"/>
            <a:stretch>
              <a:fillRect l="0" t="0" r="-9528"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376575">
            <a:off x="-832584" y="-3562851"/>
            <a:ext cx="7511977" cy="9699130"/>
          </a:xfrm>
          <a:custGeom>
            <a:avLst/>
            <a:gdLst/>
            <a:ahLst/>
            <a:cxnLst/>
            <a:rect r="r" b="b" t="t" l="l"/>
            <a:pathLst>
              <a:path h="9699130" w="7511977">
                <a:moveTo>
                  <a:pt x="0" y="0"/>
                </a:moveTo>
                <a:lnTo>
                  <a:pt x="7511977" y="0"/>
                </a:lnTo>
                <a:lnTo>
                  <a:pt x="7511977"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505412">
            <a:off x="11698623" y="-3293298"/>
            <a:ext cx="7511977" cy="9699130"/>
          </a:xfrm>
          <a:custGeom>
            <a:avLst/>
            <a:gdLst/>
            <a:ahLst/>
            <a:cxnLst/>
            <a:rect r="r" b="b" t="t" l="l"/>
            <a:pathLst>
              <a:path h="9699130" w="7511977">
                <a:moveTo>
                  <a:pt x="7511976" y="0"/>
                </a:moveTo>
                <a:lnTo>
                  <a:pt x="0" y="0"/>
                </a:lnTo>
                <a:lnTo>
                  <a:pt x="0" y="9699130"/>
                </a:lnTo>
                <a:lnTo>
                  <a:pt x="7511976" y="9699130"/>
                </a:lnTo>
                <a:lnTo>
                  <a:pt x="75119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19994">
            <a:off x="-385117" y="2619864"/>
            <a:ext cx="8754851" cy="11303875"/>
          </a:xfrm>
          <a:custGeom>
            <a:avLst/>
            <a:gdLst/>
            <a:ahLst/>
            <a:cxnLst/>
            <a:rect r="r" b="b" t="t" l="l"/>
            <a:pathLst>
              <a:path h="11303875" w="8754851">
                <a:moveTo>
                  <a:pt x="8754851" y="0"/>
                </a:moveTo>
                <a:lnTo>
                  <a:pt x="0" y="0"/>
                </a:lnTo>
                <a:lnTo>
                  <a:pt x="0" y="11303875"/>
                </a:lnTo>
                <a:lnTo>
                  <a:pt x="8754851" y="11303875"/>
                </a:lnTo>
                <a:lnTo>
                  <a:pt x="87548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351542" y="460310"/>
            <a:ext cx="3992497" cy="3070641"/>
          </a:xfrm>
          <a:custGeom>
            <a:avLst/>
            <a:gdLst/>
            <a:ahLst/>
            <a:cxnLst/>
            <a:rect r="r" b="b" t="t" l="l"/>
            <a:pathLst>
              <a:path h="3070641" w="3992497">
                <a:moveTo>
                  <a:pt x="0" y="0"/>
                </a:moveTo>
                <a:lnTo>
                  <a:pt x="3992497" y="0"/>
                </a:lnTo>
                <a:lnTo>
                  <a:pt x="3992497" y="3070642"/>
                </a:lnTo>
                <a:lnTo>
                  <a:pt x="0" y="3070642"/>
                </a:lnTo>
                <a:lnTo>
                  <a:pt x="0" y="0"/>
                </a:lnTo>
                <a:close/>
              </a:path>
            </a:pathLst>
          </a:custGeom>
          <a:blipFill>
            <a:blip r:embed="rId4"/>
            <a:stretch>
              <a:fillRect l="0" t="0" r="0" b="0"/>
            </a:stretch>
          </a:blipFill>
        </p:spPr>
      </p:sp>
      <p:sp>
        <p:nvSpPr>
          <p:cNvPr name="Freeform 6" id="6"/>
          <p:cNvSpPr/>
          <p:nvPr/>
        </p:nvSpPr>
        <p:spPr>
          <a:xfrm flipH="false" flipV="false" rot="0">
            <a:off x="10743389" y="4233136"/>
            <a:ext cx="3208803" cy="4038666"/>
          </a:xfrm>
          <a:custGeom>
            <a:avLst/>
            <a:gdLst/>
            <a:ahLst/>
            <a:cxnLst/>
            <a:rect r="r" b="b" t="t" l="l"/>
            <a:pathLst>
              <a:path h="4038666" w="3208803">
                <a:moveTo>
                  <a:pt x="0" y="0"/>
                </a:moveTo>
                <a:lnTo>
                  <a:pt x="3208803" y="0"/>
                </a:lnTo>
                <a:lnTo>
                  <a:pt x="3208803" y="4038666"/>
                </a:lnTo>
                <a:lnTo>
                  <a:pt x="0" y="4038666"/>
                </a:lnTo>
                <a:lnTo>
                  <a:pt x="0" y="0"/>
                </a:lnTo>
                <a:close/>
              </a:path>
            </a:pathLst>
          </a:custGeom>
          <a:blipFill>
            <a:blip r:embed="rId5"/>
            <a:stretch>
              <a:fillRect l="0" t="0" r="0" b="0"/>
            </a:stretch>
          </a:blipFill>
        </p:spPr>
      </p:sp>
      <p:sp>
        <p:nvSpPr>
          <p:cNvPr name="TextBox 7" id="7"/>
          <p:cNvSpPr txBox="true"/>
          <p:nvPr/>
        </p:nvSpPr>
        <p:spPr>
          <a:xfrm rot="0">
            <a:off x="2441399" y="895350"/>
            <a:ext cx="6409513"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To standardize the name, select the “name “ column and  go to “Transform” tab.</a:t>
            </a:r>
          </a:p>
        </p:txBody>
      </p:sp>
      <p:sp>
        <p:nvSpPr>
          <p:cNvPr name="TextBox 8" id="8"/>
          <p:cNvSpPr txBox="true"/>
          <p:nvPr/>
        </p:nvSpPr>
        <p:spPr>
          <a:xfrm rot="0">
            <a:off x="2441399" y="3807272"/>
            <a:ext cx="6409513"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In “Transform” tab select “Capitalize Each Word” from “Format” option.</a:t>
            </a:r>
          </a:p>
        </p:txBody>
      </p:sp>
      <p:sp>
        <p:nvSpPr>
          <p:cNvPr name="TextBox 9" id="9"/>
          <p:cNvSpPr txBox="true"/>
          <p:nvPr/>
        </p:nvSpPr>
        <p:spPr>
          <a:xfrm rot="0">
            <a:off x="2441399" y="5915952"/>
            <a:ext cx="6409513" cy="2355850"/>
          </a:xfrm>
          <a:prstGeom prst="rect">
            <a:avLst/>
          </a:prstGeom>
        </p:spPr>
        <p:txBody>
          <a:bodyPr anchor="t" rtlCol="false" tIns="0" lIns="0" bIns="0" rIns="0">
            <a:spAutoFit/>
          </a:bodyPr>
          <a:lstStyle/>
          <a:p>
            <a:pPr algn="just">
              <a:lnSpc>
                <a:spcPts val="4759"/>
              </a:lnSpc>
            </a:pPr>
            <a:r>
              <a:rPr lang="en-US" sz="2799">
                <a:solidFill>
                  <a:srgbClr val="000000"/>
                </a:solidFill>
                <a:latin typeface="Guild A Display"/>
                <a:ea typeface="Guild A Display"/>
                <a:cs typeface="Guild A Display"/>
                <a:sym typeface="Guild A Display"/>
              </a:rPr>
              <a:t>This will standardize the name column.</a:t>
            </a:r>
          </a:p>
          <a:p>
            <a:pPr algn="just" marL="0" indent="0" lvl="0">
              <a:lnSpc>
                <a:spcPts val="4759"/>
              </a:lnSpc>
            </a:pPr>
            <a:r>
              <a:rPr lang="en-US" sz="2799">
                <a:solidFill>
                  <a:srgbClr val="000000"/>
                </a:solidFill>
                <a:latin typeface="Guild A Display"/>
                <a:ea typeface="Guild A Display"/>
                <a:cs typeface="Guild A Display"/>
                <a:sym typeface="Guild A Display"/>
              </a:rPr>
              <a:t>We can choose other options,lowercase and UPPERCASE, according to our requirement.</a:t>
            </a:r>
          </a:p>
        </p:txBody>
      </p:sp>
      <p:sp>
        <p:nvSpPr>
          <p:cNvPr name="Freeform 10" id="10"/>
          <p:cNvSpPr/>
          <p:nvPr/>
        </p:nvSpPr>
        <p:spPr>
          <a:xfrm flipH="false" flipV="false" rot="0">
            <a:off x="1635147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6"/>
            <a:stretch>
              <a:fillRect l="0" t="0" r="-9528"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677211" y="5886671"/>
            <a:ext cx="4018324" cy="2474986"/>
          </a:xfrm>
          <a:custGeom>
            <a:avLst/>
            <a:gdLst/>
            <a:ahLst/>
            <a:cxnLst/>
            <a:rect r="r" b="b" t="t" l="l"/>
            <a:pathLst>
              <a:path h="2474986" w="4018324">
                <a:moveTo>
                  <a:pt x="0" y="0"/>
                </a:moveTo>
                <a:lnTo>
                  <a:pt x="4018324" y="0"/>
                </a:lnTo>
                <a:lnTo>
                  <a:pt x="4018324" y="2474987"/>
                </a:lnTo>
                <a:lnTo>
                  <a:pt x="0" y="2474987"/>
                </a:lnTo>
                <a:lnTo>
                  <a:pt x="0" y="0"/>
                </a:lnTo>
                <a:close/>
              </a:path>
            </a:pathLst>
          </a:custGeom>
          <a:blipFill>
            <a:blip r:embed="rId6"/>
            <a:stretch>
              <a:fillRect l="0" t="0" r="0" b="0"/>
            </a:stretch>
          </a:blipFill>
        </p:spPr>
      </p:sp>
      <p:sp>
        <p:nvSpPr>
          <p:cNvPr name="Freeform 8" id="8"/>
          <p:cNvSpPr/>
          <p:nvPr/>
        </p:nvSpPr>
        <p:spPr>
          <a:xfrm flipH="false" flipV="false" rot="0">
            <a:off x="3504444" y="2598897"/>
            <a:ext cx="2377610" cy="3247330"/>
          </a:xfrm>
          <a:custGeom>
            <a:avLst/>
            <a:gdLst/>
            <a:ahLst/>
            <a:cxnLst/>
            <a:rect r="r" b="b" t="t" l="l"/>
            <a:pathLst>
              <a:path h="3247330" w="2377610">
                <a:moveTo>
                  <a:pt x="0" y="0"/>
                </a:moveTo>
                <a:lnTo>
                  <a:pt x="2377610" y="0"/>
                </a:lnTo>
                <a:lnTo>
                  <a:pt x="2377610" y="3247330"/>
                </a:lnTo>
                <a:lnTo>
                  <a:pt x="0" y="3247330"/>
                </a:lnTo>
                <a:lnTo>
                  <a:pt x="0" y="0"/>
                </a:lnTo>
                <a:close/>
              </a:path>
            </a:pathLst>
          </a:custGeom>
          <a:blipFill>
            <a:blip r:embed="rId7"/>
            <a:stretch>
              <a:fillRect l="0" t="0" r="0" b="0"/>
            </a:stretch>
          </a:blipFill>
        </p:spPr>
      </p:sp>
      <p:sp>
        <p:nvSpPr>
          <p:cNvPr name="Freeform 9" id="9"/>
          <p:cNvSpPr/>
          <p:nvPr/>
        </p:nvSpPr>
        <p:spPr>
          <a:xfrm flipH="false" flipV="false" rot="0">
            <a:off x="8739486" y="8210962"/>
            <a:ext cx="3151666" cy="1228974"/>
          </a:xfrm>
          <a:custGeom>
            <a:avLst/>
            <a:gdLst/>
            <a:ahLst/>
            <a:cxnLst/>
            <a:rect r="r" b="b" t="t" l="l"/>
            <a:pathLst>
              <a:path h="1228974" w="3151666">
                <a:moveTo>
                  <a:pt x="0" y="0"/>
                </a:moveTo>
                <a:lnTo>
                  <a:pt x="3151666" y="0"/>
                </a:lnTo>
                <a:lnTo>
                  <a:pt x="3151666" y="1228974"/>
                </a:lnTo>
                <a:lnTo>
                  <a:pt x="0" y="1228974"/>
                </a:lnTo>
                <a:lnTo>
                  <a:pt x="0" y="0"/>
                </a:lnTo>
                <a:close/>
              </a:path>
            </a:pathLst>
          </a:custGeom>
          <a:blipFill>
            <a:blip r:embed="rId8"/>
            <a:stretch>
              <a:fillRect l="0" t="-4083" r="0" b="-4083"/>
            </a:stretch>
          </a:blipFill>
        </p:spPr>
      </p:sp>
      <p:sp>
        <p:nvSpPr>
          <p:cNvPr name="TextBox 10" id="10"/>
          <p:cNvSpPr txBox="true"/>
          <p:nvPr/>
        </p:nvSpPr>
        <p:spPr>
          <a:xfrm rot="0">
            <a:off x="3504444" y="1248615"/>
            <a:ext cx="13630611" cy="1463713"/>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SEPARATE COMBINED NAMES IN THE AUTHOR COLUMN IF THERE ARE MULTIPLE AUTHORS.</a:t>
            </a:r>
          </a:p>
          <a:p>
            <a:pPr algn="just">
              <a:lnSpc>
                <a:spcPts val="3533"/>
              </a:lnSpc>
            </a:pPr>
          </a:p>
          <a:p>
            <a:pPr algn="just" marL="0" indent="0" lvl="0">
              <a:lnSpc>
                <a:spcPts val="610"/>
              </a:lnSpc>
            </a:pPr>
          </a:p>
        </p:txBody>
      </p:sp>
      <p:sp>
        <p:nvSpPr>
          <p:cNvPr name="TextBox 11" id="11"/>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02</a:t>
            </a:r>
          </a:p>
        </p:txBody>
      </p:sp>
      <p:sp>
        <p:nvSpPr>
          <p:cNvPr name="TextBox 12" id="12"/>
          <p:cNvSpPr txBox="true"/>
          <p:nvPr/>
        </p:nvSpPr>
        <p:spPr>
          <a:xfrm rot="0">
            <a:off x="6039549" y="2739521"/>
            <a:ext cx="8001002" cy="29559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Use the filtering option in “author” column to observe the pattern in which the values are stored. It is easy to conclude that cells have multiple authors separated by (,) commas. So, let’s use the same to separate name of all authors.</a:t>
            </a:r>
          </a:p>
        </p:txBody>
      </p:sp>
      <p:sp>
        <p:nvSpPr>
          <p:cNvPr name="TextBox 13" id="13"/>
          <p:cNvSpPr txBox="true"/>
          <p:nvPr/>
        </p:nvSpPr>
        <p:spPr>
          <a:xfrm rot="0">
            <a:off x="3504444" y="6179602"/>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Starting by obtaining the first author. Go to “Add Column ”. In the  “Extract”  option click on “Text Before Delimiter”.</a:t>
            </a:r>
          </a:p>
        </p:txBody>
      </p:sp>
      <p:sp>
        <p:nvSpPr>
          <p:cNvPr name="TextBox 14" id="14"/>
          <p:cNvSpPr txBox="true"/>
          <p:nvPr/>
        </p:nvSpPr>
        <p:spPr>
          <a:xfrm rot="0">
            <a:off x="3504444" y="8284236"/>
            <a:ext cx="4425918"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Type  (,) comma in the delimiter  and click on ok.</a:t>
            </a:r>
          </a:p>
        </p:txBody>
      </p:sp>
      <p:sp>
        <p:nvSpPr>
          <p:cNvPr name="Freeform 15" id="15"/>
          <p:cNvSpPr/>
          <p:nvPr/>
        </p:nvSpPr>
        <p:spPr>
          <a:xfrm flipH="false" flipV="false" rot="0">
            <a:off x="1635147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9"/>
            <a:stretch>
              <a:fillRect l="0" t="0" r="-9528"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959477" y="462284"/>
            <a:ext cx="3950372" cy="2822446"/>
          </a:xfrm>
          <a:custGeom>
            <a:avLst/>
            <a:gdLst/>
            <a:ahLst/>
            <a:cxnLst/>
            <a:rect r="r" b="b" t="t" l="l"/>
            <a:pathLst>
              <a:path h="2822446" w="3950372">
                <a:moveTo>
                  <a:pt x="0" y="0"/>
                </a:moveTo>
                <a:lnTo>
                  <a:pt x="3950373" y="0"/>
                </a:lnTo>
                <a:lnTo>
                  <a:pt x="3950373" y="2822446"/>
                </a:lnTo>
                <a:lnTo>
                  <a:pt x="0" y="2822446"/>
                </a:lnTo>
                <a:lnTo>
                  <a:pt x="0" y="0"/>
                </a:lnTo>
                <a:close/>
              </a:path>
            </a:pathLst>
          </a:custGeom>
          <a:blipFill>
            <a:blip r:embed="rId6"/>
            <a:stretch>
              <a:fillRect l="0" t="-1119" r="0" b="0"/>
            </a:stretch>
          </a:blipFill>
        </p:spPr>
      </p:sp>
      <p:sp>
        <p:nvSpPr>
          <p:cNvPr name="Freeform 8" id="8"/>
          <p:cNvSpPr/>
          <p:nvPr/>
        </p:nvSpPr>
        <p:spPr>
          <a:xfrm flipH="false" flipV="false" rot="0">
            <a:off x="12490875" y="901827"/>
            <a:ext cx="3588691" cy="1513666"/>
          </a:xfrm>
          <a:custGeom>
            <a:avLst/>
            <a:gdLst/>
            <a:ahLst/>
            <a:cxnLst/>
            <a:rect r="r" b="b" t="t" l="l"/>
            <a:pathLst>
              <a:path h="1513666" w="3588691">
                <a:moveTo>
                  <a:pt x="0" y="0"/>
                </a:moveTo>
                <a:lnTo>
                  <a:pt x="3588691" y="0"/>
                </a:lnTo>
                <a:lnTo>
                  <a:pt x="3588691" y="1513666"/>
                </a:lnTo>
                <a:lnTo>
                  <a:pt x="0" y="1513666"/>
                </a:lnTo>
                <a:lnTo>
                  <a:pt x="0" y="0"/>
                </a:lnTo>
                <a:close/>
              </a:path>
            </a:pathLst>
          </a:custGeom>
          <a:blipFill>
            <a:blip r:embed="rId7"/>
            <a:stretch>
              <a:fillRect l="0" t="0" r="0" b="0"/>
            </a:stretch>
          </a:blipFill>
        </p:spPr>
      </p:sp>
      <p:sp>
        <p:nvSpPr>
          <p:cNvPr name="Freeform 9" id="9"/>
          <p:cNvSpPr/>
          <p:nvPr/>
        </p:nvSpPr>
        <p:spPr>
          <a:xfrm flipH="false" flipV="false" rot="0">
            <a:off x="2728556" y="3777740"/>
            <a:ext cx="2582034" cy="2731520"/>
          </a:xfrm>
          <a:custGeom>
            <a:avLst/>
            <a:gdLst/>
            <a:ahLst/>
            <a:cxnLst/>
            <a:rect r="r" b="b" t="t" l="l"/>
            <a:pathLst>
              <a:path h="2731520" w="2582034">
                <a:moveTo>
                  <a:pt x="0" y="0"/>
                </a:moveTo>
                <a:lnTo>
                  <a:pt x="2582034" y="0"/>
                </a:lnTo>
                <a:lnTo>
                  <a:pt x="2582034" y="2731520"/>
                </a:lnTo>
                <a:lnTo>
                  <a:pt x="0" y="2731520"/>
                </a:lnTo>
                <a:lnTo>
                  <a:pt x="0" y="0"/>
                </a:lnTo>
                <a:close/>
              </a:path>
            </a:pathLst>
          </a:custGeom>
          <a:blipFill>
            <a:blip r:embed="rId8"/>
            <a:stretch>
              <a:fillRect l="0" t="0" r="0" b="0"/>
            </a:stretch>
          </a:blipFill>
        </p:spPr>
      </p:sp>
      <p:sp>
        <p:nvSpPr>
          <p:cNvPr name="Freeform 10" id="10"/>
          <p:cNvSpPr/>
          <p:nvPr/>
        </p:nvSpPr>
        <p:spPr>
          <a:xfrm flipH="false" flipV="false" rot="0">
            <a:off x="12197408" y="6593283"/>
            <a:ext cx="3163804" cy="2665017"/>
          </a:xfrm>
          <a:custGeom>
            <a:avLst/>
            <a:gdLst/>
            <a:ahLst/>
            <a:cxnLst/>
            <a:rect r="r" b="b" t="t" l="l"/>
            <a:pathLst>
              <a:path h="2665017" w="3163804">
                <a:moveTo>
                  <a:pt x="0" y="0"/>
                </a:moveTo>
                <a:lnTo>
                  <a:pt x="3163805" y="0"/>
                </a:lnTo>
                <a:lnTo>
                  <a:pt x="3163805" y="2665017"/>
                </a:lnTo>
                <a:lnTo>
                  <a:pt x="0" y="2665017"/>
                </a:lnTo>
                <a:lnTo>
                  <a:pt x="0" y="0"/>
                </a:lnTo>
                <a:close/>
              </a:path>
            </a:pathLst>
          </a:custGeom>
          <a:blipFill>
            <a:blip r:embed="rId9"/>
            <a:stretch>
              <a:fillRect l="0" t="0" r="-12700" b="0"/>
            </a:stretch>
          </a:blipFill>
        </p:spPr>
      </p:sp>
      <p:sp>
        <p:nvSpPr>
          <p:cNvPr name="TextBox 11" id="11"/>
          <p:cNvSpPr txBox="true"/>
          <p:nvPr/>
        </p:nvSpPr>
        <p:spPr>
          <a:xfrm rot="0">
            <a:off x="2728556" y="328934"/>
            <a:ext cx="4651541" cy="2955796"/>
          </a:xfrm>
          <a:prstGeom prst="rect">
            <a:avLst/>
          </a:prstGeom>
        </p:spPr>
        <p:txBody>
          <a:bodyPr anchor="t" rtlCol="false" tIns="0" lIns="0" bIns="0" rIns="0">
            <a:spAutoFit/>
          </a:bodyPr>
          <a:lstStyle/>
          <a:p>
            <a:pPr algn="l" marL="0" indent="0" lvl="0">
              <a:lnSpc>
                <a:spcPts val="4763"/>
              </a:lnSpc>
            </a:pPr>
            <a:r>
              <a:rPr lang="en-US" sz="2802">
                <a:solidFill>
                  <a:srgbClr val="000000"/>
                </a:solidFill>
                <a:latin typeface="Guild A Display"/>
                <a:ea typeface="Guild A Display"/>
                <a:cs typeface="Guild A Display"/>
                <a:sym typeface="Guild A Display"/>
              </a:rPr>
              <a:t>Now , let’s separate the other names using “Text After Delimiter” and use comma as delimiter. This will give the names after comma in data.</a:t>
            </a:r>
          </a:p>
        </p:txBody>
      </p:sp>
      <p:sp>
        <p:nvSpPr>
          <p:cNvPr name="TextBox 12" id="12"/>
          <p:cNvSpPr txBox="true"/>
          <p:nvPr/>
        </p:nvSpPr>
        <p:spPr>
          <a:xfrm rot="0">
            <a:off x="5778308" y="4082176"/>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A quick check on the quality of data to ensure there are no errors also it reflects the percentage of multiple authors in our data.</a:t>
            </a:r>
          </a:p>
        </p:txBody>
      </p:sp>
      <p:sp>
        <p:nvSpPr>
          <p:cNvPr name="TextBox 13" id="13"/>
          <p:cNvSpPr txBox="true"/>
          <p:nvPr/>
        </p:nvSpPr>
        <p:spPr>
          <a:xfrm rot="0">
            <a:off x="2728556" y="7294890"/>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Observe the values we get. One name then (,) followed by another name. </a:t>
            </a:r>
          </a:p>
        </p:txBody>
      </p:sp>
      <p:sp>
        <p:nvSpPr>
          <p:cNvPr name="Freeform 14" id="14"/>
          <p:cNvSpPr/>
          <p:nvPr/>
        </p:nvSpPr>
        <p:spPr>
          <a:xfrm flipH="false" flipV="false" rot="0">
            <a:off x="1638957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072048" y="348469"/>
            <a:ext cx="3320558" cy="2450000"/>
          </a:xfrm>
          <a:custGeom>
            <a:avLst/>
            <a:gdLst/>
            <a:ahLst/>
            <a:cxnLst/>
            <a:rect r="r" b="b" t="t" l="l"/>
            <a:pathLst>
              <a:path h="2450000" w="3320558">
                <a:moveTo>
                  <a:pt x="0" y="0"/>
                </a:moveTo>
                <a:lnTo>
                  <a:pt x="3320559" y="0"/>
                </a:lnTo>
                <a:lnTo>
                  <a:pt x="3320559" y="2450000"/>
                </a:lnTo>
                <a:lnTo>
                  <a:pt x="0" y="2450000"/>
                </a:lnTo>
                <a:lnTo>
                  <a:pt x="0" y="0"/>
                </a:lnTo>
                <a:close/>
              </a:path>
            </a:pathLst>
          </a:custGeom>
          <a:blipFill>
            <a:blip r:embed="rId6"/>
            <a:stretch>
              <a:fillRect l="0" t="0" r="0" b="0"/>
            </a:stretch>
          </a:blipFill>
        </p:spPr>
      </p:sp>
      <p:sp>
        <p:nvSpPr>
          <p:cNvPr name="Freeform 8" id="8"/>
          <p:cNvSpPr/>
          <p:nvPr/>
        </p:nvSpPr>
        <p:spPr>
          <a:xfrm flipH="false" flipV="false" rot="0">
            <a:off x="11827268" y="3206568"/>
            <a:ext cx="3312918" cy="2348314"/>
          </a:xfrm>
          <a:custGeom>
            <a:avLst/>
            <a:gdLst/>
            <a:ahLst/>
            <a:cxnLst/>
            <a:rect r="r" b="b" t="t" l="l"/>
            <a:pathLst>
              <a:path h="2348314" w="3312918">
                <a:moveTo>
                  <a:pt x="0" y="0"/>
                </a:moveTo>
                <a:lnTo>
                  <a:pt x="3312918" y="0"/>
                </a:lnTo>
                <a:lnTo>
                  <a:pt x="3312918" y="2348314"/>
                </a:lnTo>
                <a:lnTo>
                  <a:pt x="0" y="2348314"/>
                </a:lnTo>
                <a:lnTo>
                  <a:pt x="0" y="0"/>
                </a:lnTo>
                <a:close/>
              </a:path>
            </a:pathLst>
          </a:custGeom>
          <a:blipFill>
            <a:blip r:embed="rId7"/>
            <a:stretch>
              <a:fillRect l="0" t="-13525" r="0" b="-13525"/>
            </a:stretch>
          </a:blipFill>
        </p:spPr>
      </p:sp>
      <p:sp>
        <p:nvSpPr>
          <p:cNvPr name="Freeform 9" id="9"/>
          <p:cNvSpPr/>
          <p:nvPr/>
        </p:nvSpPr>
        <p:spPr>
          <a:xfrm flipH="false" flipV="false" rot="0">
            <a:off x="11669388" y="6150102"/>
            <a:ext cx="2616389" cy="2165751"/>
          </a:xfrm>
          <a:custGeom>
            <a:avLst/>
            <a:gdLst/>
            <a:ahLst/>
            <a:cxnLst/>
            <a:rect r="r" b="b" t="t" l="l"/>
            <a:pathLst>
              <a:path h="2165751" w="2616389">
                <a:moveTo>
                  <a:pt x="0" y="0"/>
                </a:moveTo>
                <a:lnTo>
                  <a:pt x="2616389" y="0"/>
                </a:lnTo>
                <a:lnTo>
                  <a:pt x="2616389" y="2165751"/>
                </a:lnTo>
                <a:lnTo>
                  <a:pt x="0" y="2165751"/>
                </a:lnTo>
                <a:lnTo>
                  <a:pt x="0" y="0"/>
                </a:lnTo>
                <a:close/>
              </a:path>
            </a:pathLst>
          </a:custGeom>
          <a:blipFill>
            <a:blip r:embed="rId8"/>
            <a:stretch>
              <a:fillRect l="0" t="-3544" r="0" b="-3544"/>
            </a:stretch>
          </a:blipFill>
        </p:spPr>
      </p:sp>
      <p:sp>
        <p:nvSpPr>
          <p:cNvPr name="TextBox 10" id="10"/>
          <p:cNvSpPr txBox="true"/>
          <p:nvPr/>
        </p:nvSpPr>
        <p:spPr>
          <a:xfrm rot="0">
            <a:off x="2728556" y="328934"/>
            <a:ext cx="4651541" cy="2355721"/>
          </a:xfrm>
          <a:prstGeom prst="rect">
            <a:avLst/>
          </a:prstGeom>
        </p:spPr>
        <p:txBody>
          <a:bodyPr anchor="t" rtlCol="false" tIns="0" lIns="0" bIns="0" rIns="0">
            <a:spAutoFit/>
          </a:bodyPr>
          <a:lstStyle/>
          <a:p>
            <a:pPr algn="l" marL="0" indent="0" lvl="0">
              <a:lnSpc>
                <a:spcPts val="4763"/>
              </a:lnSpc>
            </a:pPr>
            <a:r>
              <a:rPr lang="en-US" sz="2802">
                <a:solidFill>
                  <a:srgbClr val="000000"/>
                </a:solidFill>
                <a:latin typeface="Guild A Display"/>
                <a:ea typeface="Guild A Display"/>
                <a:cs typeface="Guild A Display"/>
                <a:sym typeface="Guild A Display"/>
              </a:rPr>
              <a:t>We will simply repeat the previous step of “Text Before Delimiter” to get the second name.</a:t>
            </a:r>
          </a:p>
        </p:txBody>
      </p:sp>
      <p:sp>
        <p:nvSpPr>
          <p:cNvPr name="TextBox 11" id="11"/>
          <p:cNvSpPr txBox="true"/>
          <p:nvPr/>
        </p:nvSpPr>
        <p:spPr>
          <a:xfrm rot="0">
            <a:off x="2728556" y="3736200"/>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This will yield us another column with values before (,), which is our second author name.</a:t>
            </a:r>
          </a:p>
        </p:txBody>
      </p:sp>
      <p:sp>
        <p:nvSpPr>
          <p:cNvPr name="TextBox 12" id="12"/>
          <p:cNvSpPr txBox="true"/>
          <p:nvPr/>
        </p:nvSpPr>
        <p:spPr>
          <a:xfrm rot="0">
            <a:off x="2728556" y="6288415"/>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To get the third author name, we’ll use “Text After Delimiter” on column we created after applying the “Text After Delimiter” for the first time.</a:t>
            </a:r>
          </a:p>
        </p:txBody>
      </p:sp>
      <p:sp>
        <p:nvSpPr>
          <p:cNvPr name="TextBox 13" id="13"/>
          <p:cNvSpPr txBox="true"/>
          <p:nvPr/>
        </p:nvSpPr>
        <p:spPr>
          <a:xfrm rot="0">
            <a:off x="14593424" y="7286482"/>
            <a:ext cx="2303932" cy="908049"/>
          </a:xfrm>
          <a:prstGeom prst="rect">
            <a:avLst/>
          </a:prstGeom>
        </p:spPr>
        <p:txBody>
          <a:bodyPr anchor="t" rtlCol="false" tIns="0" lIns="0" bIns="0" rIns="0">
            <a:spAutoFit/>
          </a:bodyPr>
          <a:lstStyle/>
          <a:p>
            <a:pPr algn="just" marL="0" indent="0" lvl="0">
              <a:lnSpc>
                <a:spcPts val="3740"/>
              </a:lnSpc>
            </a:pPr>
            <a:r>
              <a:rPr lang="en-US" sz="2200">
                <a:solidFill>
                  <a:srgbClr val="000000"/>
                </a:solidFill>
                <a:latin typeface="Guild A Display"/>
                <a:ea typeface="Guild A Display"/>
                <a:cs typeface="Guild A Display"/>
                <a:sym typeface="Guild A Display"/>
              </a:rPr>
              <a:t>Notice there are just  18 values</a:t>
            </a:r>
          </a:p>
        </p:txBody>
      </p:sp>
      <p:sp>
        <p:nvSpPr>
          <p:cNvPr name="Freeform 14" id="14"/>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9"/>
            <a:stretch>
              <a:fillRect l="0" t="0" r="-9528"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083342">
            <a:off x="12347359" y="-1716641"/>
            <a:ext cx="7511977" cy="9699130"/>
          </a:xfrm>
          <a:custGeom>
            <a:avLst/>
            <a:gdLst/>
            <a:ahLst/>
            <a:cxnLst/>
            <a:rect r="r" b="b" t="t" l="l"/>
            <a:pathLst>
              <a:path h="9699130" w="7511977">
                <a:moveTo>
                  <a:pt x="0" y="0"/>
                </a:moveTo>
                <a:lnTo>
                  <a:pt x="7511976" y="0"/>
                </a:lnTo>
                <a:lnTo>
                  <a:pt x="7511976"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51194" y="2234314"/>
            <a:ext cx="6236806" cy="8052686"/>
          </a:xfrm>
          <a:custGeom>
            <a:avLst/>
            <a:gdLst/>
            <a:ahLst/>
            <a:cxnLst/>
            <a:rect r="r" b="b" t="t" l="l"/>
            <a:pathLst>
              <a:path h="8052686" w="6236806">
                <a:moveTo>
                  <a:pt x="0" y="0"/>
                </a:moveTo>
                <a:lnTo>
                  <a:pt x="6236806" y="0"/>
                </a:lnTo>
                <a:lnTo>
                  <a:pt x="6236806" y="8052686"/>
                </a:lnTo>
                <a:lnTo>
                  <a:pt x="0" y="8052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848770" y="158224"/>
            <a:ext cx="3480167" cy="2974701"/>
          </a:xfrm>
          <a:custGeom>
            <a:avLst/>
            <a:gdLst/>
            <a:ahLst/>
            <a:cxnLst/>
            <a:rect r="r" b="b" t="t" l="l"/>
            <a:pathLst>
              <a:path h="2974701" w="3480167">
                <a:moveTo>
                  <a:pt x="0" y="0"/>
                </a:moveTo>
                <a:lnTo>
                  <a:pt x="3480167" y="0"/>
                </a:lnTo>
                <a:lnTo>
                  <a:pt x="3480167" y="2974700"/>
                </a:lnTo>
                <a:lnTo>
                  <a:pt x="0" y="2974700"/>
                </a:lnTo>
                <a:lnTo>
                  <a:pt x="0" y="0"/>
                </a:lnTo>
                <a:close/>
              </a:path>
            </a:pathLst>
          </a:custGeom>
          <a:blipFill>
            <a:blip r:embed="rId6"/>
            <a:stretch>
              <a:fillRect l="0" t="-21717" r="0" b="-21717"/>
            </a:stretch>
          </a:blipFill>
        </p:spPr>
      </p:sp>
      <p:sp>
        <p:nvSpPr>
          <p:cNvPr name="Freeform 6" id="6"/>
          <p:cNvSpPr/>
          <p:nvPr/>
        </p:nvSpPr>
        <p:spPr>
          <a:xfrm flipH="false" flipV="false" rot="0">
            <a:off x="10688290" y="4132861"/>
            <a:ext cx="3542669" cy="839286"/>
          </a:xfrm>
          <a:custGeom>
            <a:avLst/>
            <a:gdLst/>
            <a:ahLst/>
            <a:cxnLst/>
            <a:rect r="r" b="b" t="t" l="l"/>
            <a:pathLst>
              <a:path h="839286" w="3542669">
                <a:moveTo>
                  <a:pt x="0" y="0"/>
                </a:moveTo>
                <a:lnTo>
                  <a:pt x="3542669" y="0"/>
                </a:lnTo>
                <a:lnTo>
                  <a:pt x="3542669" y="839286"/>
                </a:lnTo>
                <a:lnTo>
                  <a:pt x="0" y="839286"/>
                </a:lnTo>
                <a:lnTo>
                  <a:pt x="0" y="0"/>
                </a:lnTo>
                <a:close/>
              </a:path>
            </a:pathLst>
          </a:custGeom>
          <a:blipFill>
            <a:blip r:embed="rId7"/>
            <a:stretch>
              <a:fillRect l="0" t="0" r="0" b="0"/>
            </a:stretch>
          </a:blipFill>
        </p:spPr>
      </p:sp>
      <p:sp>
        <p:nvSpPr>
          <p:cNvPr name="Freeform 7" id="7"/>
          <p:cNvSpPr/>
          <p:nvPr/>
        </p:nvSpPr>
        <p:spPr>
          <a:xfrm flipH="false" flipV="false" rot="0">
            <a:off x="14357647" y="3670933"/>
            <a:ext cx="2873965" cy="2120138"/>
          </a:xfrm>
          <a:custGeom>
            <a:avLst/>
            <a:gdLst/>
            <a:ahLst/>
            <a:cxnLst/>
            <a:rect r="r" b="b" t="t" l="l"/>
            <a:pathLst>
              <a:path h="2120138" w="2873965">
                <a:moveTo>
                  <a:pt x="0" y="0"/>
                </a:moveTo>
                <a:lnTo>
                  <a:pt x="2873964" y="0"/>
                </a:lnTo>
                <a:lnTo>
                  <a:pt x="2873964" y="2120138"/>
                </a:lnTo>
                <a:lnTo>
                  <a:pt x="0" y="2120138"/>
                </a:lnTo>
                <a:lnTo>
                  <a:pt x="0" y="0"/>
                </a:lnTo>
                <a:close/>
              </a:path>
            </a:pathLst>
          </a:custGeom>
          <a:blipFill>
            <a:blip r:embed="rId8"/>
            <a:stretch>
              <a:fillRect l="0" t="0" r="0" b="0"/>
            </a:stretch>
          </a:blipFill>
        </p:spPr>
      </p:sp>
      <p:sp>
        <p:nvSpPr>
          <p:cNvPr name="Freeform 8" id="8"/>
          <p:cNvSpPr/>
          <p:nvPr/>
        </p:nvSpPr>
        <p:spPr>
          <a:xfrm flipH="false" flipV="false" rot="0">
            <a:off x="2328435" y="6443619"/>
            <a:ext cx="8001002" cy="2277302"/>
          </a:xfrm>
          <a:custGeom>
            <a:avLst/>
            <a:gdLst/>
            <a:ahLst/>
            <a:cxnLst/>
            <a:rect r="r" b="b" t="t" l="l"/>
            <a:pathLst>
              <a:path h="2277302" w="8001002">
                <a:moveTo>
                  <a:pt x="0" y="0"/>
                </a:moveTo>
                <a:lnTo>
                  <a:pt x="8001003" y="0"/>
                </a:lnTo>
                <a:lnTo>
                  <a:pt x="8001003" y="2277302"/>
                </a:lnTo>
                <a:lnTo>
                  <a:pt x="0" y="2277302"/>
                </a:lnTo>
                <a:lnTo>
                  <a:pt x="0" y="0"/>
                </a:lnTo>
                <a:close/>
              </a:path>
            </a:pathLst>
          </a:custGeom>
          <a:blipFill>
            <a:blip r:embed="rId9"/>
            <a:stretch>
              <a:fillRect l="0" t="0" r="0" b="0"/>
            </a:stretch>
          </a:blipFill>
        </p:spPr>
      </p:sp>
      <p:sp>
        <p:nvSpPr>
          <p:cNvPr name="TextBox 9" id="9"/>
          <p:cNvSpPr txBox="true"/>
          <p:nvPr/>
        </p:nvSpPr>
        <p:spPr>
          <a:xfrm rot="0">
            <a:off x="7595284" y="384175"/>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On examining the values , we can easily conclude that no fourth names exist. However there are some commas(,) at the end of values.</a:t>
            </a:r>
          </a:p>
        </p:txBody>
      </p:sp>
      <p:sp>
        <p:nvSpPr>
          <p:cNvPr name="TextBox 10" id="10"/>
          <p:cNvSpPr txBox="true"/>
          <p:nvPr/>
        </p:nvSpPr>
        <p:spPr>
          <a:xfrm rot="0">
            <a:off x="2252902" y="3767351"/>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These commas at the end can be dealt with “Replace Value” in “Transform” tab and putting it as blank.</a:t>
            </a:r>
          </a:p>
        </p:txBody>
      </p:sp>
      <p:sp>
        <p:nvSpPr>
          <p:cNvPr name="TextBox 11" id="11"/>
          <p:cNvSpPr txBox="true"/>
          <p:nvPr/>
        </p:nvSpPr>
        <p:spPr>
          <a:xfrm rot="0">
            <a:off x="10688290" y="7191246"/>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We can now rename the columns.</a:t>
            </a:r>
          </a:p>
        </p:txBody>
      </p:sp>
      <p:sp>
        <p:nvSpPr>
          <p:cNvPr name="Freeform 12" id="12"/>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471441" y="477345"/>
            <a:ext cx="8448842" cy="2389815"/>
          </a:xfrm>
          <a:custGeom>
            <a:avLst/>
            <a:gdLst/>
            <a:ahLst/>
            <a:cxnLst/>
            <a:rect r="r" b="b" t="t" l="l"/>
            <a:pathLst>
              <a:path h="2389815" w="8448842">
                <a:moveTo>
                  <a:pt x="0" y="0"/>
                </a:moveTo>
                <a:lnTo>
                  <a:pt x="8448843" y="0"/>
                </a:lnTo>
                <a:lnTo>
                  <a:pt x="8448843" y="2389815"/>
                </a:lnTo>
                <a:lnTo>
                  <a:pt x="0" y="2389815"/>
                </a:lnTo>
                <a:lnTo>
                  <a:pt x="0" y="0"/>
                </a:lnTo>
                <a:close/>
              </a:path>
            </a:pathLst>
          </a:custGeom>
          <a:blipFill>
            <a:blip r:embed="rId6"/>
            <a:stretch>
              <a:fillRect l="0" t="0" r="0" b="0"/>
            </a:stretch>
          </a:blipFill>
        </p:spPr>
      </p:sp>
      <p:sp>
        <p:nvSpPr>
          <p:cNvPr name="Freeform 6" id="6"/>
          <p:cNvSpPr/>
          <p:nvPr/>
        </p:nvSpPr>
        <p:spPr>
          <a:xfrm flipH="false" flipV="false" rot="0">
            <a:off x="6360188" y="5477918"/>
            <a:ext cx="6628945" cy="2624050"/>
          </a:xfrm>
          <a:custGeom>
            <a:avLst/>
            <a:gdLst/>
            <a:ahLst/>
            <a:cxnLst/>
            <a:rect r="r" b="b" t="t" l="l"/>
            <a:pathLst>
              <a:path h="2624050" w="6628945">
                <a:moveTo>
                  <a:pt x="0" y="0"/>
                </a:moveTo>
                <a:lnTo>
                  <a:pt x="6628945" y="0"/>
                </a:lnTo>
                <a:lnTo>
                  <a:pt x="6628945" y="2624050"/>
                </a:lnTo>
                <a:lnTo>
                  <a:pt x="0" y="2624050"/>
                </a:lnTo>
                <a:lnTo>
                  <a:pt x="0" y="0"/>
                </a:lnTo>
                <a:close/>
              </a:path>
            </a:pathLst>
          </a:custGeom>
          <a:blipFill>
            <a:blip r:embed="rId7"/>
            <a:stretch>
              <a:fillRect l="0" t="-1380" r="0" b="-1380"/>
            </a:stretch>
          </a:blipFill>
        </p:spPr>
      </p:sp>
      <p:sp>
        <p:nvSpPr>
          <p:cNvPr name="TextBox 7" id="7"/>
          <p:cNvSpPr txBox="true"/>
          <p:nvPr/>
        </p:nvSpPr>
        <p:spPr>
          <a:xfrm rot="0">
            <a:off x="11186555" y="439524"/>
            <a:ext cx="5348500" cy="2955925"/>
          </a:xfrm>
          <a:prstGeom prst="rect">
            <a:avLst/>
          </a:prstGeom>
        </p:spPr>
        <p:txBody>
          <a:bodyPr anchor="t" rtlCol="false" tIns="0" lIns="0" bIns="0" rIns="0">
            <a:spAutoFit/>
          </a:bodyPr>
          <a:lstStyle/>
          <a:p>
            <a:pPr algn="ctr">
              <a:lnSpc>
                <a:spcPts val="4759"/>
              </a:lnSpc>
              <a:spcBef>
                <a:spcPct val="0"/>
              </a:spcBef>
            </a:pPr>
            <a:r>
              <a:rPr lang="en-US" sz="2799">
                <a:solidFill>
                  <a:srgbClr val="000000"/>
                </a:solidFill>
                <a:latin typeface="Guild A Display"/>
                <a:ea typeface="Guild A Display"/>
                <a:cs typeface="Guild A Display"/>
                <a:sym typeface="Guild A Display"/>
              </a:rPr>
              <a:t>Just a quick recheck on what we concluded before, no fourth names, using “Text After Delimiter once again on last column we created . </a:t>
            </a:r>
          </a:p>
        </p:txBody>
      </p:sp>
      <p:sp>
        <p:nvSpPr>
          <p:cNvPr name="TextBox 8" id="8"/>
          <p:cNvSpPr txBox="true"/>
          <p:nvPr/>
        </p:nvSpPr>
        <p:spPr>
          <a:xfrm rot="0">
            <a:off x="1802191" y="3262099"/>
            <a:ext cx="10396440" cy="1155700"/>
          </a:xfrm>
          <a:prstGeom prst="rect">
            <a:avLst/>
          </a:prstGeom>
        </p:spPr>
        <p:txBody>
          <a:bodyPr anchor="t" rtlCol="false" tIns="0" lIns="0" bIns="0" rIns="0">
            <a:spAutoFit/>
          </a:bodyPr>
          <a:lstStyle/>
          <a:p>
            <a:pPr algn="ctr">
              <a:lnSpc>
                <a:spcPts val="4759"/>
              </a:lnSpc>
              <a:spcBef>
                <a:spcPct val="0"/>
              </a:spcBef>
            </a:pPr>
            <a:r>
              <a:rPr lang="en-US" sz="2799">
                <a:solidFill>
                  <a:srgbClr val="000000"/>
                </a:solidFill>
                <a:latin typeface="Guild A Display"/>
                <a:ea typeface="Guild A Display"/>
                <a:cs typeface="Guild A Display"/>
                <a:sym typeface="Guild A Display"/>
              </a:rPr>
              <a:t>observe that valid value is zero (0), which implies no more data in column.</a:t>
            </a:r>
          </a:p>
        </p:txBody>
      </p:sp>
      <p:sp>
        <p:nvSpPr>
          <p:cNvPr name="TextBox 9" id="9"/>
          <p:cNvSpPr txBox="true"/>
          <p:nvPr/>
        </p:nvSpPr>
        <p:spPr>
          <a:xfrm rot="0">
            <a:off x="7000411" y="8492493"/>
            <a:ext cx="5348500" cy="1155700"/>
          </a:xfrm>
          <a:prstGeom prst="rect">
            <a:avLst/>
          </a:prstGeom>
        </p:spPr>
        <p:txBody>
          <a:bodyPr anchor="t" rtlCol="false" tIns="0" lIns="0" bIns="0" rIns="0">
            <a:spAutoFit/>
          </a:bodyPr>
          <a:lstStyle/>
          <a:p>
            <a:pPr algn="ctr">
              <a:lnSpc>
                <a:spcPts val="4759"/>
              </a:lnSpc>
              <a:spcBef>
                <a:spcPct val="0"/>
              </a:spcBef>
            </a:pPr>
            <a:r>
              <a:rPr lang="en-US" sz="2799">
                <a:solidFill>
                  <a:srgbClr val="000000"/>
                </a:solidFill>
                <a:latin typeface="Guild A Display"/>
                <a:ea typeface="Guild A Display"/>
                <a:cs typeface="Guild A Display"/>
                <a:sym typeface="Guild A Display"/>
              </a:rPr>
              <a:t>Simply remove all unwanted columns before proceeding.</a:t>
            </a:r>
          </a:p>
        </p:txBody>
      </p:sp>
      <p:sp>
        <p:nvSpPr>
          <p:cNvPr name="Freeform 10" id="10"/>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8"/>
            <a:stretch>
              <a:fillRect l="0" t="0" r="-9528"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083342">
            <a:off x="12347359" y="-1716641"/>
            <a:ext cx="7511977" cy="9699130"/>
          </a:xfrm>
          <a:custGeom>
            <a:avLst/>
            <a:gdLst/>
            <a:ahLst/>
            <a:cxnLst/>
            <a:rect r="r" b="b" t="t" l="l"/>
            <a:pathLst>
              <a:path h="9699130" w="7511977">
                <a:moveTo>
                  <a:pt x="0" y="0"/>
                </a:moveTo>
                <a:lnTo>
                  <a:pt x="7511976" y="0"/>
                </a:lnTo>
                <a:lnTo>
                  <a:pt x="7511976"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51194" y="2234314"/>
            <a:ext cx="6236806" cy="8052686"/>
          </a:xfrm>
          <a:custGeom>
            <a:avLst/>
            <a:gdLst/>
            <a:ahLst/>
            <a:cxnLst/>
            <a:rect r="r" b="b" t="t" l="l"/>
            <a:pathLst>
              <a:path h="8052686" w="6236806">
                <a:moveTo>
                  <a:pt x="0" y="0"/>
                </a:moveTo>
                <a:lnTo>
                  <a:pt x="6236806" y="0"/>
                </a:lnTo>
                <a:lnTo>
                  <a:pt x="6236806" y="8052686"/>
                </a:lnTo>
                <a:lnTo>
                  <a:pt x="0" y="8052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381305" y="6260657"/>
            <a:ext cx="2365977" cy="2408607"/>
          </a:xfrm>
          <a:custGeom>
            <a:avLst/>
            <a:gdLst/>
            <a:ahLst/>
            <a:cxnLst/>
            <a:rect r="r" b="b" t="t" l="l"/>
            <a:pathLst>
              <a:path h="2408607" w="2365977">
                <a:moveTo>
                  <a:pt x="0" y="0"/>
                </a:moveTo>
                <a:lnTo>
                  <a:pt x="2365977" y="0"/>
                </a:lnTo>
                <a:lnTo>
                  <a:pt x="2365977" y="2408607"/>
                </a:lnTo>
                <a:lnTo>
                  <a:pt x="0" y="2408607"/>
                </a:lnTo>
                <a:lnTo>
                  <a:pt x="0" y="0"/>
                </a:lnTo>
                <a:close/>
              </a:path>
            </a:pathLst>
          </a:custGeom>
          <a:blipFill>
            <a:blip r:embed="rId6"/>
            <a:stretch>
              <a:fillRect l="0" t="0" r="0" b="0"/>
            </a:stretch>
          </a:blipFill>
        </p:spPr>
      </p:sp>
      <p:sp>
        <p:nvSpPr>
          <p:cNvPr name="Freeform 6" id="6"/>
          <p:cNvSpPr/>
          <p:nvPr/>
        </p:nvSpPr>
        <p:spPr>
          <a:xfrm flipH="false" flipV="false" rot="0">
            <a:off x="12106208" y="2667263"/>
            <a:ext cx="2735323" cy="4340046"/>
          </a:xfrm>
          <a:custGeom>
            <a:avLst/>
            <a:gdLst/>
            <a:ahLst/>
            <a:cxnLst/>
            <a:rect r="r" b="b" t="t" l="l"/>
            <a:pathLst>
              <a:path h="4340046" w="2735323">
                <a:moveTo>
                  <a:pt x="0" y="0"/>
                </a:moveTo>
                <a:lnTo>
                  <a:pt x="2735323" y="0"/>
                </a:lnTo>
                <a:lnTo>
                  <a:pt x="2735323" y="4340046"/>
                </a:lnTo>
                <a:lnTo>
                  <a:pt x="0" y="4340046"/>
                </a:lnTo>
                <a:lnTo>
                  <a:pt x="0" y="0"/>
                </a:lnTo>
                <a:close/>
              </a:path>
            </a:pathLst>
          </a:custGeom>
          <a:blipFill>
            <a:blip r:embed="rId7"/>
            <a:stretch>
              <a:fillRect l="0" t="0" r="0" b="0"/>
            </a:stretch>
          </a:blipFill>
        </p:spPr>
      </p:sp>
      <p:sp>
        <p:nvSpPr>
          <p:cNvPr name="TextBox 7" id="7"/>
          <p:cNvSpPr txBox="true"/>
          <p:nvPr/>
        </p:nvSpPr>
        <p:spPr>
          <a:xfrm rot="0">
            <a:off x="3504444" y="1248615"/>
            <a:ext cx="13630611" cy="1915540"/>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ENSURE ALL ENTRIES IN THE RELEASEDATE COLUMN FOLLOW A CONSISTENT DATE FORMAT (DD-MM-YYYY).</a:t>
            </a:r>
          </a:p>
          <a:p>
            <a:pPr algn="just">
              <a:lnSpc>
                <a:spcPts val="3533"/>
              </a:lnSpc>
            </a:pPr>
          </a:p>
          <a:p>
            <a:pPr algn="just" marL="0" indent="0" lvl="0">
              <a:lnSpc>
                <a:spcPts val="610"/>
              </a:lnSpc>
            </a:pPr>
          </a:p>
        </p:txBody>
      </p:sp>
      <p:sp>
        <p:nvSpPr>
          <p:cNvPr name="TextBox 8" id="8"/>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03</a:t>
            </a:r>
          </a:p>
        </p:txBody>
      </p:sp>
      <p:sp>
        <p:nvSpPr>
          <p:cNvPr name="TextBox 9" id="9"/>
          <p:cNvSpPr txBox="true"/>
          <p:nvPr/>
        </p:nvSpPr>
        <p:spPr>
          <a:xfrm rot="0">
            <a:off x="3381305" y="3719903"/>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To ensure the releasedate is in right format , use the option in column to change the data type to date.</a:t>
            </a:r>
          </a:p>
        </p:txBody>
      </p:sp>
      <p:sp>
        <p:nvSpPr>
          <p:cNvPr name="TextBox 10" id="10"/>
          <p:cNvSpPr txBox="true"/>
          <p:nvPr/>
        </p:nvSpPr>
        <p:spPr>
          <a:xfrm rot="0">
            <a:off x="6262931" y="6662723"/>
            <a:ext cx="4218771" cy="1755775"/>
          </a:xfrm>
          <a:prstGeom prst="rect">
            <a:avLst/>
          </a:prstGeom>
        </p:spPr>
        <p:txBody>
          <a:bodyPr anchor="t" rtlCol="false" tIns="0" lIns="0" bIns="0" rIns="0">
            <a:spAutoFit/>
          </a:bodyPr>
          <a:lstStyle/>
          <a:p>
            <a:pPr algn="ctr">
              <a:lnSpc>
                <a:spcPts val="4759"/>
              </a:lnSpc>
              <a:spcBef>
                <a:spcPct val="0"/>
              </a:spcBef>
            </a:pPr>
            <a:r>
              <a:rPr lang="en-US" sz="2799">
                <a:solidFill>
                  <a:srgbClr val="000000"/>
                </a:solidFill>
                <a:latin typeface="Guild A Display"/>
                <a:ea typeface="Guild A Display"/>
                <a:cs typeface="Guild A Display"/>
                <a:sym typeface="Guild A Display"/>
              </a:rPr>
              <a:t>Valid = 100% implies all data is in date format with no error or  empty values.</a:t>
            </a:r>
          </a:p>
        </p:txBody>
      </p:sp>
      <p:sp>
        <p:nvSpPr>
          <p:cNvPr name="Freeform 11" id="11"/>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8"/>
            <a:stretch>
              <a:fillRect l="0" t="0" r="-9528"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249212" y="2510528"/>
            <a:ext cx="2445333" cy="3645607"/>
          </a:xfrm>
          <a:custGeom>
            <a:avLst/>
            <a:gdLst/>
            <a:ahLst/>
            <a:cxnLst/>
            <a:rect r="r" b="b" t="t" l="l"/>
            <a:pathLst>
              <a:path h="3645607" w="2445333">
                <a:moveTo>
                  <a:pt x="0" y="0"/>
                </a:moveTo>
                <a:lnTo>
                  <a:pt x="2445333" y="0"/>
                </a:lnTo>
                <a:lnTo>
                  <a:pt x="2445333" y="3645606"/>
                </a:lnTo>
                <a:lnTo>
                  <a:pt x="0" y="3645606"/>
                </a:lnTo>
                <a:lnTo>
                  <a:pt x="0" y="0"/>
                </a:lnTo>
                <a:close/>
              </a:path>
            </a:pathLst>
          </a:custGeom>
          <a:blipFill>
            <a:blip r:embed="rId6"/>
            <a:stretch>
              <a:fillRect l="0" t="0" r="0" b="0"/>
            </a:stretch>
          </a:blipFill>
        </p:spPr>
      </p:sp>
      <p:sp>
        <p:nvSpPr>
          <p:cNvPr name="Freeform 6" id="6"/>
          <p:cNvSpPr/>
          <p:nvPr/>
        </p:nvSpPr>
        <p:spPr>
          <a:xfrm flipH="false" flipV="false" rot="0">
            <a:off x="14886037" y="7787780"/>
            <a:ext cx="1673742" cy="1687517"/>
          </a:xfrm>
          <a:custGeom>
            <a:avLst/>
            <a:gdLst/>
            <a:ahLst/>
            <a:cxnLst/>
            <a:rect r="r" b="b" t="t" l="l"/>
            <a:pathLst>
              <a:path h="1687517" w="1673742">
                <a:moveTo>
                  <a:pt x="0" y="0"/>
                </a:moveTo>
                <a:lnTo>
                  <a:pt x="1673742" y="0"/>
                </a:lnTo>
                <a:lnTo>
                  <a:pt x="1673742" y="1687517"/>
                </a:lnTo>
                <a:lnTo>
                  <a:pt x="0" y="1687517"/>
                </a:lnTo>
                <a:lnTo>
                  <a:pt x="0" y="0"/>
                </a:lnTo>
                <a:close/>
              </a:path>
            </a:pathLst>
          </a:custGeom>
          <a:blipFill>
            <a:blip r:embed="rId7"/>
            <a:stretch>
              <a:fillRect l="0" t="0" r="0" b="0"/>
            </a:stretch>
          </a:blipFill>
        </p:spPr>
      </p:sp>
      <p:sp>
        <p:nvSpPr>
          <p:cNvPr name="Freeform 7" id="7"/>
          <p:cNvSpPr/>
          <p:nvPr/>
        </p:nvSpPr>
        <p:spPr>
          <a:xfrm flipH="false" flipV="false" rot="0">
            <a:off x="11953988" y="7919519"/>
            <a:ext cx="2129866" cy="1424039"/>
          </a:xfrm>
          <a:custGeom>
            <a:avLst/>
            <a:gdLst/>
            <a:ahLst/>
            <a:cxnLst/>
            <a:rect r="r" b="b" t="t" l="l"/>
            <a:pathLst>
              <a:path h="1424039" w="2129866">
                <a:moveTo>
                  <a:pt x="0" y="0"/>
                </a:moveTo>
                <a:lnTo>
                  <a:pt x="2129867" y="0"/>
                </a:lnTo>
                <a:lnTo>
                  <a:pt x="2129867" y="1424039"/>
                </a:lnTo>
                <a:lnTo>
                  <a:pt x="0" y="1424039"/>
                </a:lnTo>
                <a:lnTo>
                  <a:pt x="0" y="0"/>
                </a:lnTo>
                <a:close/>
              </a:path>
            </a:pathLst>
          </a:custGeom>
          <a:blipFill>
            <a:blip r:embed="rId8"/>
            <a:stretch>
              <a:fillRect l="0" t="0" r="0" b="0"/>
            </a:stretch>
          </a:blipFill>
        </p:spPr>
      </p:sp>
      <p:sp>
        <p:nvSpPr>
          <p:cNvPr name="TextBox 8" id="8"/>
          <p:cNvSpPr txBox="true"/>
          <p:nvPr/>
        </p:nvSpPr>
        <p:spPr>
          <a:xfrm rot="0">
            <a:off x="3504444" y="1248615"/>
            <a:ext cx="13630611" cy="1463713"/>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CONVERT THE TIME COLUMN FROM TEXT FORMAT TO A DURATION FORMAT THAT EXCEL RECOGNIZES.</a:t>
            </a:r>
          </a:p>
          <a:p>
            <a:pPr algn="just">
              <a:lnSpc>
                <a:spcPts val="3533"/>
              </a:lnSpc>
            </a:pPr>
          </a:p>
          <a:p>
            <a:pPr algn="just" marL="0" indent="0" lvl="0">
              <a:lnSpc>
                <a:spcPts val="610"/>
              </a:lnSpc>
            </a:pPr>
          </a:p>
        </p:txBody>
      </p:sp>
      <p:sp>
        <p:nvSpPr>
          <p:cNvPr name="TextBox 9" id="9"/>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04</a:t>
            </a:r>
          </a:p>
        </p:txBody>
      </p:sp>
      <p:sp>
        <p:nvSpPr>
          <p:cNvPr name="TextBox 10" id="10"/>
          <p:cNvSpPr txBox="true"/>
          <p:nvPr/>
        </p:nvSpPr>
        <p:spPr>
          <a:xfrm rot="0">
            <a:off x="3452014" y="2787650"/>
            <a:ext cx="8001002" cy="235585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Before making any actions, we’ll quickly observe the pattern in which values are stored in the column by using the drop down and scrolling through the values.</a:t>
            </a:r>
          </a:p>
        </p:txBody>
      </p:sp>
      <p:sp>
        <p:nvSpPr>
          <p:cNvPr name="TextBox 11" id="11"/>
          <p:cNvSpPr txBox="true"/>
          <p:nvPr/>
        </p:nvSpPr>
        <p:spPr>
          <a:xfrm rot="0">
            <a:off x="14886037" y="3604810"/>
            <a:ext cx="1640154" cy="941802"/>
          </a:xfrm>
          <a:prstGeom prst="rect">
            <a:avLst/>
          </a:prstGeom>
        </p:spPr>
        <p:txBody>
          <a:bodyPr anchor="t" rtlCol="false" tIns="0" lIns="0" bIns="0" rIns="0">
            <a:spAutoFit/>
          </a:bodyPr>
          <a:lstStyle/>
          <a:p>
            <a:pPr algn="just" marL="0" indent="0" lvl="0">
              <a:lnSpc>
                <a:spcPts val="3856"/>
              </a:lnSpc>
            </a:pPr>
            <a:r>
              <a:rPr lang="en-US" sz="2268">
                <a:solidFill>
                  <a:srgbClr val="000000"/>
                </a:solidFill>
                <a:latin typeface="Guild A Display"/>
                <a:ea typeface="Guild A Display"/>
                <a:cs typeface="Guild A Display"/>
                <a:sym typeface="Guild A Display"/>
              </a:rPr>
              <a:t>Notice the pattern</a:t>
            </a:r>
          </a:p>
        </p:txBody>
      </p:sp>
      <p:sp>
        <p:nvSpPr>
          <p:cNvPr name="TextBox 12" id="12"/>
          <p:cNvSpPr txBox="true"/>
          <p:nvPr/>
        </p:nvSpPr>
        <p:spPr>
          <a:xfrm rot="0">
            <a:off x="3504444" y="6427644"/>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I’ll begin with extracting the hour values. </a:t>
            </a:r>
          </a:p>
        </p:txBody>
      </p:sp>
      <p:sp>
        <p:nvSpPr>
          <p:cNvPr name="TextBox 13" id="13"/>
          <p:cNvSpPr txBox="true"/>
          <p:nvPr/>
        </p:nvSpPr>
        <p:spPr>
          <a:xfrm rot="0">
            <a:off x="3452014" y="7987013"/>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Go to ‘Add Column” select “Extract” and the choose “Text Before Delimiter” .</a:t>
            </a:r>
          </a:p>
        </p:txBody>
      </p:sp>
      <p:sp>
        <p:nvSpPr>
          <p:cNvPr name="Freeform 14" id="14"/>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9"/>
            <a:stretch>
              <a:fillRect l="0" t="0" r="-9528"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376575">
            <a:off x="-832584" y="-3562851"/>
            <a:ext cx="7511977" cy="9699130"/>
          </a:xfrm>
          <a:custGeom>
            <a:avLst/>
            <a:gdLst/>
            <a:ahLst/>
            <a:cxnLst/>
            <a:rect r="r" b="b" t="t" l="l"/>
            <a:pathLst>
              <a:path h="9699130" w="7511977">
                <a:moveTo>
                  <a:pt x="0" y="0"/>
                </a:moveTo>
                <a:lnTo>
                  <a:pt x="7511977" y="0"/>
                </a:lnTo>
                <a:lnTo>
                  <a:pt x="7511977"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505412">
            <a:off x="11698623" y="-3293298"/>
            <a:ext cx="7511977" cy="9699130"/>
          </a:xfrm>
          <a:custGeom>
            <a:avLst/>
            <a:gdLst/>
            <a:ahLst/>
            <a:cxnLst/>
            <a:rect r="r" b="b" t="t" l="l"/>
            <a:pathLst>
              <a:path h="9699130" w="7511977">
                <a:moveTo>
                  <a:pt x="7511976" y="0"/>
                </a:moveTo>
                <a:lnTo>
                  <a:pt x="0" y="0"/>
                </a:lnTo>
                <a:lnTo>
                  <a:pt x="0" y="9699130"/>
                </a:lnTo>
                <a:lnTo>
                  <a:pt x="7511976" y="9699130"/>
                </a:lnTo>
                <a:lnTo>
                  <a:pt x="75119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19994">
            <a:off x="-385117" y="2619864"/>
            <a:ext cx="8754851" cy="11303875"/>
          </a:xfrm>
          <a:custGeom>
            <a:avLst/>
            <a:gdLst/>
            <a:ahLst/>
            <a:cxnLst/>
            <a:rect r="r" b="b" t="t" l="l"/>
            <a:pathLst>
              <a:path h="11303875" w="8754851">
                <a:moveTo>
                  <a:pt x="8754851" y="0"/>
                </a:moveTo>
                <a:lnTo>
                  <a:pt x="0" y="0"/>
                </a:lnTo>
                <a:lnTo>
                  <a:pt x="0" y="11303875"/>
                </a:lnTo>
                <a:lnTo>
                  <a:pt x="8754851" y="11303875"/>
                </a:lnTo>
                <a:lnTo>
                  <a:pt x="87548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087756" y="6423105"/>
            <a:ext cx="3098127" cy="2769216"/>
          </a:xfrm>
          <a:custGeom>
            <a:avLst/>
            <a:gdLst/>
            <a:ahLst/>
            <a:cxnLst/>
            <a:rect r="r" b="b" t="t" l="l"/>
            <a:pathLst>
              <a:path h="2769216" w="3098127">
                <a:moveTo>
                  <a:pt x="0" y="0"/>
                </a:moveTo>
                <a:lnTo>
                  <a:pt x="3098127" y="0"/>
                </a:lnTo>
                <a:lnTo>
                  <a:pt x="3098127" y="2769216"/>
                </a:lnTo>
                <a:lnTo>
                  <a:pt x="0" y="2769216"/>
                </a:lnTo>
                <a:lnTo>
                  <a:pt x="0" y="0"/>
                </a:lnTo>
                <a:close/>
              </a:path>
            </a:pathLst>
          </a:custGeom>
          <a:blipFill>
            <a:blip r:embed="rId4"/>
            <a:stretch>
              <a:fillRect l="0" t="0" r="0" b="0"/>
            </a:stretch>
          </a:blipFill>
        </p:spPr>
      </p:sp>
      <p:sp>
        <p:nvSpPr>
          <p:cNvPr name="Freeform 6" id="6"/>
          <p:cNvSpPr/>
          <p:nvPr/>
        </p:nvSpPr>
        <p:spPr>
          <a:xfrm flipH="false" flipV="false" rot="0">
            <a:off x="8564308" y="2594388"/>
            <a:ext cx="2272435" cy="3499882"/>
          </a:xfrm>
          <a:custGeom>
            <a:avLst/>
            <a:gdLst/>
            <a:ahLst/>
            <a:cxnLst/>
            <a:rect r="r" b="b" t="t" l="l"/>
            <a:pathLst>
              <a:path h="3499882" w="2272435">
                <a:moveTo>
                  <a:pt x="0" y="0"/>
                </a:moveTo>
                <a:lnTo>
                  <a:pt x="2272435" y="0"/>
                </a:lnTo>
                <a:lnTo>
                  <a:pt x="2272435" y="3499881"/>
                </a:lnTo>
                <a:lnTo>
                  <a:pt x="0" y="3499881"/>
                </a:lnTo>
                <a:lnTo>
                  <a:pt x="0" y="0"/>
                </a:lnTo>
                <a:close/>
              </a:path>
            </a:pathLst>
          </a:custGeom>
          <a:blipFill>
            <a:blip r:embed="rId5"/>
            <a:stretch>
              <a:fillRect l="0" t="0" r="0" b="0"/>
            </a:stretch>
          </a:blipFill>
        </p:spPr>
      </p:sp>
      <p:sp>
        <p:nvSpPr>
          <p:cNvPr name="Freeform 7" id="7"/>
          <p:cNvSpPr/>
          <p:nvPr/>
        </p:nvSpPr>
        <p:spPr>
          <a:xfrm flipH="false" flipV="false" rot="0">
            <a:off x="2923404" y="981469"/>
            <a:ext cx="2784747" cy="1887099"/>
          </a:xfrm>
          <a:custGeom>
            <a:avLst/>
            <a:gdLst/>
            <a:ahLst/>
            <a:cxnLst/>
            <a:rect r="r" b="b" t="t" l="l"/>
            <a:pathLst>
              <a:path h="1887099" w="2784747">
                <a:moveTo>
                  <a:pt x="0" y="0"/>
                </a:moveTo>
                <a:lnTo>
                  <a:pt x="2784747" y="0"/>
                </a:lnTo>
                <a:lnTo>
                  <a:pt x="2784747" y="1887099"/>
                </a:lnTo>
                <a:lnTo>
                  <a:pt x="0" y="1887099"/>
                </a:lnTo>
                <a:lnTo>
                  <a:pt x="0" y="0"/>
                </a:lnTo>
                <a:close/>
              </a:path>
            </a:pathLst>
          </a:custGeom>
          <a:blipFill>
            <a:blip r:embed="rId6"/>
            <a:stretch>
              <a:fillRect l="0" t="0" r="0" b="0"/>
            </a:stretch>
          </a:blipFill>
        </p:spPr>
      </p:sp>
      <p:sp>
        <p:nvSpPr>
          <p:cNvPr name="TextBox 8" id="8"/>
          <p:cNvSpPr txBox="true"/>
          <p:nvPr/>
        </p:nvSpPr>
        <p:spPr>
          <a:xfrm rot="0">
            <a:off x="3246245" y="6289755"/>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Now begin with the minutes values lying between “and” and “mins”</a:t>
            </a:r>
          </a:p>
        </p:txBody>
      </p:sp>
      <p:sp>
        <p:nvSpPr>
          <p:cNvPr name="TextBox 9" id="9"/>
          <p:cNvSpPr txBox="true"/>
          <p:nvPr/>
        </p:nvSpPr>
        <p:spPr>
          <a:xfrm rot="0">
            <a:off x="3246245" y="8036621"/>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For this , go to “Extract” in “Add Columns” and choose “Text Between Delmimter”.</a:t>
            </a:r>
          </a:p>
        </p:txBody>
      </p:sp>
      <p:sp>
        <p:nvSpPr>
          <p:cNvPr name="TextBox 10" id="10"/>
          <p:cNvSpPr txBox="true"/>
          <p:nvPr/>
        </p:nvSpPr>
        <p:spPr>
          <a:xfrm rot="0">
            <a:off x="3246245" y="4090542"/>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We’ll get a column like this.</a:t>
            </a:r>
          </a:p>
        </p:txBody>
      </p:sp>
      <p:sp>
        <p:nvSpPr>
          <p:cNvPr name="TextBox 11" id="11"/>
          <p:cNvSpPr txBox="true"/>
          <p:nvPr/>
        </p:nvSpPr>
        <p:spPr>
          <a:xfrm rot="0">
            <a:off x="6304843" y="1153365"/>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Give “hr” as the delimiter . Note- we can tackle both values , like “hr” and “hrs”, using “hr” as delimiter.</a:t>
            </a:r>
          </a:p>
        </p:txBody>
      </p:sp>
      <p:sp>
        <p:nvSpPr>
          <p:cNvPr name="Freeform 12" id="12"/>
          <p:cNvSpPr/>
          <p:nvPr/>
        </p:nvSpPr>
        <p:spPr>
          <a:xfrm flipH="false" flipV="false" rot="0">
            <a:off x="1638005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7"/>
            <a:stretch>
              <a:fillRect l="0" t="0" r="-9528"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376575">
            <a:off x="-832584" y="-3562851"/>
            <a:ext cx="7511977" cy="9699130"/>
          </a:xfrm>
          <a:custGeom>
            <a:avLst/>
            <a:gdLst/>
            <a:ahLst/>
            <a:cxnLst/>
            <a:rect r="r" b="b" t="t" l="l"/>
            <a:pathLst>
              <a:path h="9699130" w="7511977">
                <a:moveTo>
                  <a:pt x="0" y="0"/>
                </a:moveTo>
                <a:lnTo>
                  <a:pt x="7511977" y="0"/>
                </a:lnTo>
                <a:lnTo>
                  <a:pt x="7511977"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505412">
            <a:off x="11698623" y="-3293298"/>
            <a:ext cx="7511977" cy="9699130"/>
          </a:xfrm>
          <a:custGeom>
            <a:avLst/>
            <a:gdLst/>
            <a:ahLst/>
            <a:cxnLst/>
            <a:rect r="r" b="b" t="t" l="l"/>
            <a:pathLst>
              <a:path h="9699130" w="7511977">
                <a:moveTo>
                  <a:pt x="7511976" y="0"/>
                </a:moveTo>
                <a:lnTo>
                  <a:pt x="0" y="0"/>
                </a:lnTo>
                <a:lnTo>
                  <a:pt x="0" y="9699130"/>
                </a:lnTo>
                <a:lnTo>
                  <a:pt x="7511976" y="9699130"/>
                </a:lnTo>
                <a:lnTo>
                  <a:pt x="75119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19994">
            <a:off x="-385117" y="2619864"/>
            <a:ext cx="8754851" cy="11303875"/>
          </a:xfrm>
          <a:custGeom>
            <a:avLst/>
            <a:gdLst/>
            <a:ahLst/>
            <a:cxnLst/>
            <a:rect r="r" b="b" t="t" l="l"/>
            <a:pathLst>
              <a:path h="11303875" w="8754851">
                <a:moveTo>
                  <a:pt x="8754851" y="0"/>
                </a:moveTo>
                <a:lnTo>
                  <a:pt x="0" y="0"/>
                </a:lnTo>
                <a:lnTo>
                  <a:pt x="0" y="11303875"/>
                </a:lnTo>
                <a:lnTo>
                  <a:pt x="8754851" y="11303875"/>
                </a:lnTo>
                <a:lnTo>
                  <a:pt x="875485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415432" y="433757"/>
            <a:ext cx="3915718" cy="2617690"/>
          </a:xfrm>
          <a:custGeom>
            <a:avLst/>
            <a:gdLst/>
            <a:ahLst/>
            <a:cxnLst/>
            <a:rect r="r" b="b" t="t" l="l"/>
            <a:pathLst>
              <a:path h="2617690" w="3915718">
                <a:moveTo>
                  <a:pt x="0" y="0"/>
                </a:moveTo>
                <a:lnTo>
                  <a:pt x="3915717" y="0"/>
                </a:lnTo>
                <a:lnTo>
                  <a:pt x="3915717" y="2617690"/>
                </a:lnTo>
                <a:lnTo>
                  <a:pt x="0" y="2617690"/>
                </a:lnTo>
                <a:lnTo>
                  <a:pt x="0" y="0"/>
                </a:lnTo>
                <a:close/>
              </a:path>
            </a:pathLst>
          </a:custGeom>
          <a:blipFill>
            <a:blip r:embed="rId4"/>
            <a:stretch>
              <a:fillRect l="0" t="0" r="0" b="0"/>
            </a:stretch>
          </a:blipFill>
        </p:spPr>
      </p:sp>
      <p:sp>
        <p:nvSpPr>
          <p:cNvPr name="TextBox 6" id="6"/>
          <p:cNvSpPr txBox="true"/>
          <p:nvPr/>
        </p:nvSpPr>
        <p:spPr>
          <a:xfrm rot="0">
            <a:off x="6746779" y="498002"/>
            <a:ext cx="8001002" cy="235585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Give the values “and” and “min” in the start delimiter and end delimiter box . Note: here we have not used “mins” as using ”min” we can tackle all values that  have “mins” or “min”.</a:t>
            </a:r>
          </a:p>
        </p:txBody>
      </p:sp>
      <p:sp>
        <p:nvSpPr>
          <p:cNvPr name="TextBox 7" id="7"/>
          <p:cNvSpPr txBox="true"/>
          <p:nvPr/>
        </p:nvSpPr>
        <p:spPr>
          <a:xfrm rot="0">
            <a:off x="2415432" y="3780687"/>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For values that have no “hr” in them , like 20 mins, we can use  “Text Before Delimiter”  and give “min” in the delimiter box. </a:t>
            </a:r>
          </a:p>
        </p:txBody>
      </p:sp>
      <p:sp>
        <p:nvSpPr>
          <p:cNvPr name="Freeform 8" id="8"/>
          <p:cNvSpPr/>
          <p:nvPr/>
        </p:nvSpPr>
        <p:spPr>
          <a:xfrm flipH="false" flipV="false" rot="0">
            <a:off x="11844161" y="3493844"/>
            <a:ext cx="3432211" cy="2642693"/>
          </a:xfrm>
          <a:custGeom>
            <a:avLst/>
            <a:gdLst/>
            <a:ahLst/>
            <a:cxnLst/>
            <a:rect r="r" b="b" t="t" l="l"/>
            <a:pathLst>
              <a:path h="2642693" w="3432211">
                <a:moveTo>
                  <a:pt x="0" y="0"/>
                </a:moveTo>
                <a:lnTo>
                  <a:pt x="3432211" y="0"/>
                </a:lnTo>
                <a:lnTo>
                  <a:pt x="3432211" y="2642693"/>
                </a:lnTo>
                <a:lnTo>
                  <a:pt x="0" y="2642693"/>
                </a:lnTo>
                <a:lnTo>
                  <a:pt x="0" y="0"/>
                </a:lnTo>
                <a:close/>
              </a:path>
            </a:pathLst>
          </a:custGeom>
          <a:blipFill>
            <a:blip r:embed="rId5"/>
            <a:stretch>
              <a:fillRect l="0" t="0" r="0" b="0"/>
            </a:stretch>
          </a:blipFill>
        </p:spPr>
      </p:sp>
      <p:sp>
        <p:nvSpPr>
          <p:cNvPr name="Freeform 9" id="9"/>
          <p:cNvSpPr/>
          <p:nvPr/>
        </p:nvSpPr>
        <p:spPr>
          <a:xfrm flipH="false" flipV="false" rot="0">
            <a:off x="2415432" y="6789943"/>
            <a:ext cx="4176356" cy="2386489"/>
          </a:xfrm>
          <a:custGeom>
            <a:avLst/>
            <a:gdLst/>
            <a:ahLst/>
            <a:cxnLst/>
            <a:rect r="r" b="b" t="t" l="l"/>
            <a:pathLst>
              <a:path h="2386489" w="4176356">
                <a:moveTo>
                  <a:pt x="0" y="0"/>
                </a:moveTo>
                <a:lnTo>
                  <a:pt x="4176356" y="0"/>
                </a:lnTo>
                <a:lnTo>
                  <a:pt x="4176356" y="2386489"/>
                </a:lnTo>
                <a:lnTo>
                  <a:pt x="0" y="2386489"/>
                </a:lnTo>
                <a:lnTo>
                  <a:pt x="0" y="0"/>
                </a:lnTo>
                <a:close/>
              </a:path>
            </a:pathLst>
          </a:custGeom>
          <a:blipFill>
            <a:blip r:embed="rId6"/>
            <a:stretch>
              <a:fillRect l="0" t="0" r="0" b="0"/>
            </a:stretch>
          </a:blipFill>
        </p:spPr>
      </p:sp>
      <p:sp>
        <p:nvSpPr>
          <p:cNvPr name="TextBox 10" id="10"/>
          <p:cNvSpPr txBox="true"/>
          <p:nvPr/>
        </p:nvSpPr>
        <p:spPr>
          <a:xfrm rot="0">
            <a:off x="7388430" y="6470244"/>
            <a:ext cx="8001002" cy="29559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After the above step, convert the format to “Whole Number”. This will make the values like “20 mins” to “20” and other values , say “ 1 hr and 20 mins”, will  give an error as they don’t become numbers after the step.</a:t>
            </a:r>
          </a:p>
        </p:txBody>
      </p:sp>
      <p:sp>
        <p:nvSpPr>
          <p:cNvPr name="Freeform 11" id="11"/>
          <p:cNvSpPr/>
          <p:nvPr/>
        </p:nvSpPr>
        <p:spPr>
          <a:xfrm flipH="false" flipV="false" rot="0">
            <a:off x="1637052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7"/>
            <a:stretch>
              <a:fillRect l="0" t="0" r="-9528"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164876" y="312405"/>
            <a:ext cx="6204049" cy="1339287"/>
          </a:xfrm>
          <a:custGeom>
            <a:avLst/>
            <a:gdLst/>
            <a:ahLst/>
            <a:cxnLst/>
            <a:rect r="r" b="b" t="t" l="l"/>
            <a:pathLst>
              <a:path h="1339287" w="6204049">
                <a:moveTo>
                  <a:pt x="0" y="0"/>
                </a:moveTo>
                <a:lnTo>
                  <a:pt x="6204049" y="0"/>
                </a:lnTo>
                <a:lnTo>
                  <a:pt x="6204049" y="1339286"/>
                </a:lnTo>
                <a:lnTo>
                  <a:pt x="0" y="1339286"/>
                </a:lnTo>
                <a:lnTo>
                  <a:pt x="0" y="0"/>
                </a:lnTo>
                <a:close/>
              </a:path>
            </a:pathLst>
          </a:custGeom>
          <a:blipFill>
            <a:blip r:embed="rId6"/>
            <a:stretch>
              <a:fillRect l="0" t="0" r="0" b="0"/>
            </a:stretch>
          </a:blipFill>
        </p:spPr>
      </p:sp>
      <p:sp>
        <p:nvSpPr>
          <p:cNvPr name="Freeform 6" id="6"/>
          <p:cNvSpPr/>
          <p:nvPr/>
        </p:nvSpPr>
        <p:spPr>
          <a:xfrm flipH="false" flipV="false" rot="0">
            <a:off x="8852114" y="1976281"/>
            <a:ext cx="3790333" cy="2234037"/>
          </a:xfrm>
          <a:custGeom>
            <a:avLst/>
            <a:gdLst/>
            <a:ahLst/>
            <a:cxnLst/>
            <a:rect r="r" b="b" t="t" l="l"/>
            <a:pathLst>
              <a:path h="2234037" w="3790333">
                <a:moveTo>
                  <a:pt x="0" y="0"/>
                </a:moveTo>
                <a:lnTo>
                  <a:pt x="3790332" y="0"/>
                </a:lnTo>
                <a:lnTo>
                  <a:pt x="3790332" y="2234037"/>
                </a:lnTo>
                <a:lnTo>
                  <a:pt x="0" y="2234037"/>
                </a:lnTo>
                <a:lnTo>
                  <a:pt x="0" y="0"/>
                </a:lnTo>
                <a:close/>
              </a:path>
            </a:pathLst>
          </a:custGeom>
          <a:blipFill>
            <a:blip r:embed="rId7"/>
            <a:stretch>
              <a:fillRect l="0" t="0" r="0" b="0"/>
            </a:stretch>
          </a:blipFill>
        </p:spPr>
      </p:sp>
      <p:sp>
        <p:nvSpPr>
          <p:cNvPr name="Freeform 7" id="7"/>
          <p:cNvSpPr/>
          <p:nvPr/>
        </p:nvSpPr>
        <p:spPr>
          <a:xfrm flipH="false" flipV="false" rot="0">
            <a:off x="10164876" y="4632325"/>
            <a:ext cx="7682108" cy="1581983"/>
          </a:xfrm>
          <a:custGeom>
            <a:avLst/>
            <a:gdLst/>
            <a:ahLst/>
            <a:cxnLst/>
            <a:rect r="r" b="b" t="t" l="l"/>
            <a:pathLst>
              <a:path h="1581983" w="7682108">
                <a:moveTo>
                  <a:pt x="0" y="0"/>
                </a:moveTo>
                <a:lnTo>
                  <a:pt x="7682109" y="0"/>
                </a:lnTo>
                <a:lnTo>
                  <a:pt x="7682109" y="1581983"/>
                </a:lnTo>
                <a:lnTo>
                  <a:pt x="0" y="1581983"/>
                </a:lnTo>
                <a:lnTo>
                  <a:pt x="0" y="0"/>
                </a:lnTo>
                <a:close/>
              </a:path>
            </a:pathLst>
          </a:custGeom>
          <a:blipFill>
            <a:blip r:embed="rId8"/>
            <a:stretch>
              <a:fillRect l="0" t="0" r="0" b="0"/>
            </a:stretch>
          </a:blipFill>
        </p:spPr>
      </p:sp>
      <p:sp>
        <p:nvSpPr>
          <p:cNvPr name="Freeform 8" id="8"/>
          <p:cNvSpPr/>
          <p:nvPr/>
        </p:nvSpPr>
        <p:spPr>
          <a:xfrm flipH="false" flipV="false" rot="0">
            <a:off x="7379396" y="6538158"/>
            <a:ext cx="4593923" cy="2975765"/>
          </a:xfrm>
          <a:custGeom>
            <a:avLst/>
            <a:gdLst/>
            <a:ahLst/>
            <a:cxnLst/>
            <a:rect r="r" b="b" t="t" l="l"/>
            <a:pathLst>
              <a:path h="2975765" w="4593923">
                <a:moveTo>
                  <a:pt x="0" y="0"/>
                </a:moveTo>
                <a:lnTo>
                  <a:pt x="4593922" y="0"/>
                </a:lnTo>
                <a:lnTo>
                  <a:pt x="4593922" y="2975764"/>
                </a:lnTo>
                <a:lnTo>
                  <a:pt x="0" y="2975764"/>
                </a:lnTo>
                <a:lnTo>
                  <a:pt x="0" y="0"/>
                </a:lnTo>
                <a:close/>
              </a:path>
            </a:pathLst>
          </a:custGeom>
          <a:blipFill>
            <a:blip r:embed="rId9"/>
            <a:stretch>
              <a:fillRect l="0" t="0" r="0" b="0"/>
            </a:stretch>
          </a:blipFill>
        </p:spPr>
      </p:sp>
      <p:sp>
        <p:nvSpPr>
          <p:cNvPr name="TextBox 9" id="9"/>
          <p:cNvSpPr txBox="true"/>
          <p:nvPr/>
        </p:nvSpPr>
        <p:spPr>
          <a:xfrm rot="0">
            <a:off x="1984672" y="337523"/>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Now , right click on the column created and click on “Replace Errors”</a:t>
            </a:r>
          </a:p>
        </p:txBody>
      </p:sp>
      <p:sp>
        <p:nvSpPr>
          <p:cNvPr name="TextBox 10" id="10"/>
          <p:cNvSpPr txBox="true"/>
          <p:nvPr/>
        </p:nvSpPr>
        <p:spPr>
          <a:xfrm rot="0">
            <a:off x="1984672" y="2634974"/>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In the dialog box, give zero(0)  as value.</a:t>
            </a:r>
          </a:p>
        </p:txBody>
      </p:sp>
      <p:sp>
        <p:nvSpPr>
          <p:cNvPr name="TextBox 11" id="11"/>
          <p:cNvSpPr txBox="true"/>
          <p:nvPr/>
        </p:nvSpPr>
        <p:spPr>
          <a:xfrm rot="0">
            <a:off x="1984672" y="4778791"/>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Rename the columns, say “hours”, “minutes1”,”minutes2".</a:t>
            </a:r>
          </a:p>
        </p:txBody>
      </p:sp>
      <p:sp>
        <p:nvSpPr>
          <p:cNvPr name="TextBox 12" id="12"/>
          <p:cNvSpPr txBox="true"/>
          <p:nvPr/>
        </p:nvSpPr>
        <p:spPr>
          <a:xfrm rot="0">
            <a:off x="1984672" y="7525166"/>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Select the two minutes cloumns .</a:t>
            </a:r>
          </a:p>
        </p:txBody>
      </p:sp>
      <p:sp>
        <p:nvSpPr>
          <p:cNvPr name="Freeform 13" id="13"/>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352368" y="642808"/>
            <a:ext cx="3331872" cy="1700404"/>
          </a:xfrm>
          <a:custGeom>
            <a:avLst/>
            <a:gdLst/>
            <a:ahLst/>
            <a:cxnLst/>
            <a:rect r="r" b="b" t="t" l="l"/>
            <a:pathLst>
              <a:path h="1700404" w="3331872">
                <a:moveTo>
                  <a:pt x="0" y="0"/>
                </a:moveTo>
                <a:lnTo>
                  <a:pt x="3331873" y="0"/>
                </a:lnTo>
                <a:lnTo>
                  <a:pt x="3331873" y="1700403"/>
                </a:lnTo>
                <a:lnTo>
                  <a:pt x="0" y="1700403"/>
                </a:lnTo>
                <a:lnTo>
                  <a:pt x="0" y="0"/>
                </a:lnTo>
                <a:close/>
              </a:path>
            </a:pathLst>
          </a:custGeom>
          <a:blipFill>
            <a:blip r:embed="rId6"/>
            <a:stretch>
              <a:fillRect l="0" t="0" r="0" b="0"/>
            </a:stretch>
          </a:blipFill>
        </p:spPr>
      </p:sp>
      <p:sp>
        <p:nvSpPr>
          <p:cNvPr name="Freeform 6" id="6"/>
          <p:cNvSpPr/>
          <p:nvPr/>
        </p:nvSpPr>
        <p:spPr>
          <a:xfrm flipH="false" flipV="false" rot="0">
            <a:off x="2352368" y="2664302"/>
            <a:ext cx="3784040" cy="2479198"/>
          </a:xfrm>
          <a:custGeom>
            <a:avLst/>
            <a:gdLst/>
            <a:ahLst/>
            <a:cxnLst/>
            <a:rect r="r" b="b" t="t" l="l"/>
            <a:pathLst>
              <a:path h="2479198" w="3784040">
                <a:moveTo>
                  <a:pt x="0" y="0"/>
                </a:moveTo>
                <a:lnTo>
                  <a:pt x="3784040" y="0"/>
                </a:lnTo>
                <a:lnTo>
                  <a:pt x="3784040" y="2479198"/>
                </a:lnTo>
                <a:lnTo>
                  <a:pt x="0" y="2479198"/>
                </a:lnTo>
                <a:lnTo>
                  <a:pt x="0" y="0"/>
                </a:lnTo>
                <a:close/>
              </a:path>
            </a:pathLst>
          </a:custGeom>
          <a:blipFill>
            <a:blip r:embed="rId7"/>
            <a:stretch>
              <a:fillRect l="0" t="0" r="0" b="0"/>
            </a:stretch>
          </a:blipFill>
        </p:spPr>
      </p:sp>
      <p:sp>
        <p:nvSpPr>
          <p:cNvPr name="Freeform 7" id="7"/>
          <p:cNvSpPr/>
          <p:nvPr/>
        </p:nvSpPr>
        <p:spPr>
          <a:xfrm flipH="false" flipV="false" rot="0">
            <a:off x="13803143" y="2888921"/>
            <a:ext cx="2911031" cy="2260610"/>
          </a:xfrm>
          <a:custGeom>
            <a:avLst/>
            <a:gdLst/>
            <a:ahLst/>
            <a:cxnLst/>
            <a:rect r="r" b="b" t="t" l="l"/>
            <a:pathLst>
              <a:path h="2260610" w="2911031">
                <a:moveTo>
                  <a:pt x="0" y="0"/>
                </a:moveTo>
                <a:lnTo>
                  <a:pt x="2911031" y="0"/>
                </a:lnTo>
                <a:lnTo>
                  <a:pt x="2911031" y="2260610"/>
                </a:lnTo>
                <a:lnTo>
                  <a:pt x="0" y="2260610"/>
                </a:lnTo>
                <a:lnTo>
                  <a:pt x="0" y="0"/>
                </a:lnTo>
                <a:close/>
              </a:path>
            </a:pathLst>
          </a:custGeom>
          <a:blipFill>
            <a:blip r:embed="rId8"/>
            <a:stretch>
              <a:fillRect l="0" t="0" r="0" b="0"/>
            </a:stretch>
          </a:blipFill>
        </p:spPr>
      </p:sp>
      <p:sp>
        <p:nvSpPr>
          <p:cNvPr name="Freeform 8" id="8"/>
          <p:cNvSpPr/>
          <p:nvPr/>
        </p:nvSpPr>
        <p:spPr>
          <a:xfrm flipH="false" flipV="false" rot="0">
            <a:off x="2352368" y="6789943"/>
            <a:ext cx="6880582" cy="2143132"/>
          </a:xfrm>
          <a:custGeom>
            <a:avLst/>
            <a:gdLst/>
            <a:ahLst/>
            <a:cxnLst/>
            <a:rect r="r" b="b" t="t" l="l"/>
            <a:pathLst>
              <a:path h="2143132" w="6880582">
                <a:moveTo>
                  <a:pt x="0" y="0"/>
                </a:moveTo>
                <a:lnTo>
                  <a:pt x="6880583" y="0"/>
                </a:lnTo>
                <a:lnTo>
                  <a:pt x="6880583" y="2143132"/>
                </a:lnTo>
                <a:lnTo>
                  <a:pt x="0" y="2143132"/>
                </a:lnTo>
                <a:lnTo>
                  <a:pt x="0" y="0"/>
                </a:lnTo>
                <a:close/>
              </a:path>
            </a:pathLst>
          </a:custGeom>
          <a:blipFill>
            <a:blip r:embed="rId9"/>
            <a:stretch>
              <a:fillRect l="0" t="0" r="0" b="0"/>
            </a:stretch>
          </a:blipFill>
        </p:spPr>
      </p:sp>
      <p:sp>
        <p:nvSpPr>
          <p:cNvPr name="TextBox 9" id="9"/>
          <p:cNvSpPr txBox="true"/>
          <p:nvPr/>
        </p:nvSpPr>
        <p:spPr>
          <a:xfrm rot="0">
            <a:off x="6390099" y="1088936"/>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Go to “Add Column” then “Custom Column”.</a:t>
            </a:r>
          </a:p>
        </p:txBody>
      </p:sp>
      <p:sp>
        <p:nvSpPr>
          <p:cNvPr name="TextBox 10" id="10"/>
          <p:cNvSpPr txBox="true"/>
          <p:nvPr/>
        </p:nvSpPr>
        <p:spPr>
          <a:xfrm rot="0">
            <a:off x="6390099" y="2755571"/>
            <a:ext cx="6824684" cy="29559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Give name as  “minutes” and formula as sum of the two minutes columns, minutes1+minutes2.  Right on the colums created and choose “Replace Value” and replace “null” with “0”.</a:t>
            </a:r>
          </a:p>
        </p:txBody>
      </p:sp>
      <p:sp>
        <p:nvSpPr>
          <p:cNvPr name="TextBox 11" id="11"/>
          <p:cNvSpPr txBox="true"/>
          <p:nvPr/>
        </p:nvSpPr>
        <p:spPr>
          <a:xfrm rot="0">
            <a:off x="9802641" y="7216984"/>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As a result we have a single column “minutes” with all minute values and an “hours” column.</a:t>
            </a:r>
          </a:p>
        </p:txBody>
      </p:sp>
      <p:sp>
        <p:nvSpPr>
          <p:cNvPr name="Freeform 12" id="12"/>
          <p:cNvSpPr/>
          <p:nvPr/>
        </p:nvSpPr>
        <p:spPr>
          <a:xfrm flipH="false" flipV="false" rot="0">
            <a:off x="16389578"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350011" y="343279"/>
            <a:ext cx="3720857" cy="1370842"/>
          </a:xfrm>
          <a:custGeom>
            <a:avLst/>
            <a:gdLst/>
            <a:ahLst/>
            <a:cxnLst/>
            <a:rect r="r" b="b" t="t" l="l"/>
            <a:pathLst>
              <a:path h="1370842" w="3720857">
                <a:moveTo>
                  <a:pt x="0" y="0"/>
                </a:moveTo>
                <a:lnTo>
                  <a:pt x="3720857" y="0"/>
                </a:lnTo>
                <a:lnTo>
                  <a:pt x="3720857" y="1370842"/>
                </a:lnTo>
                <a:lnTo>
                  <a:pt x="0" y="1370842"/>
                </a:lnTo>
                <a:lnTo>
                  <a:pt x="0" y="0"/>
                </a:lnTo>
                <a:close/>
              </a:path>
            </a:pathLst>
          </a:custGeom>
          <a:blipFill>
            <a:blip r:embed="rId6"/>
            <a:stretch>
              <a:fillRect l="0" t="0" r="0" b="0"/>
            </a:stretch>
          </a:blipFill>
        </p:spPr>
      </p:sp>
      <p:sp>
        <p:nvSpPr>
          <p:cNvPr name="Freeform 6" id="6"/>
          <p:cNvSpPr/>
          <p:nvPr/>
        </p:nvSpPr>
        <p:spPr>
          <a:xfrm flipH="false" flipV="false" rot="0">
            <a:off x="2183672" y="2066431"/>
            <a:ext cx="3722730" cy="2066431"/>
          </a:xfrm>
          <a:custGeom>
            <a:avLst/>
            <a:gdLst/>
            <a:ahLst/>
            <a:cxnLst/>
            <a:rect r="r" b="b" t="t" l="l"/>
            <a:pathLst>
              <a:path h="2066431" w="3722730">
                <a:moveTo>
                  <a:pt x="0" y="0"/>
                </a:moveTo>
                <a:lnTo>
                  <a:pt x="3722730" y="0"/>
                </a:lnTo>
                <a:lnTo>
                  <a:pt x="3722730" y="2066430"/>
                </a:lnTo>
                <a:lnTo>
                  <a:pt x="0" y="2066430"/>
                </a:lnTo>
                <a:lnTo>
                  <a:pt x="0" y="0"/>
                </a:lnTo>
                <a:close/>
              </a:path>
            </a:pathLst>
          </a:custGeom>
          <a:blipFill>
            <a:blip r:embed="rId7"/>
            <a:stretch>
              <a:fillRect l="0" t="0" r="0" b="0"/>
            </a:stretch>
          </a:blipFill>
        </p:spPr>
      </p:sp>
      <p:sp>
        <p:nvSpPr>
          <p:cNvPr name="Freeform 7" id="7"/>
          <p:cNvSpPr/>
          <p:nvPr/>
        </p:nvSpPr>
        <p:spPr>
          <a:xfrm flipH="false" flipV="false" rot="0">
            <a:off x="2183672" y="4468726"/>
            <a:ext cx="1866236" cy="3147661"/>
          </a:xfrm>
          <a:custGeom>
            <a:avLst/>
            <a:gdLst/>
            <a:ahLst/>
            <a:cxnLst/>
            <a:rect r="r" b="b" t="t" l="l"/>
            <a:pathLst>
              <a:path h="3147661" w="1866236">
                <a:moveTo>
                  <a:pt x="0" y="0"/>
                </a:moveTo>
                <a:lnTo>
                  <a:pt x="1866236" y="0"/>
                </a:lnTo>
                <a:lnTo>
                  <a:pt x="1866236" y="3147661"/>
                </a:lnTo>
                <a:lnTo>
                  <a:pt x="0" y="3147661"/>
                </a:lnTo>
                <a:lnTo>
                  <a:pt x="0" y="0"/>
                </a:lnTo>
                <a:close/>
              </a:path>
            </a:pathLst>
          </a:custGeom>
          <a:blipFill>
            <a:blip r:embed="rId8"/>
            <a:stretch>
              <a:fillRect l="0" t="0" r="0" b="0"/>
            </a:stretch>
          </a:blipFill>
        </p:spPr>
      </p:sp>
      <p:sp>
        <p:nvSpPr>
          <p:cNvPr name="Freeform 8" id="8"/>
          <p:cNvSpPr/>
          <p:nvPr/>
        </p:nvSpPr>
        <p:spPr>
          <a:xfrm flipH="false" flipV="false" rot="0">
            <a:off x="14147631" y="2066431"/>
            <a:ext cx="1369597" cy="1857760"/>
          </a:xfrm>
          <a:custGeom>
            <a:avLst/>
            <a:gdLst/>
            <a:ahLst/>
            <a:cxnLst/>
            <a:rect r="r" b="b" t="t" l="l"/>
            <a:pathLst>
              <a:path h="1857760" w="1369597">
                <a:moveTo>
                  <a:pt x="0" y="0"/>
                </a:moveTo>
                <a:lnTo>
                  <a:pt x="1369597" y="0"/>
                </a:lnTo>
                <a:lnTo>
                  <a:pt x="1369597" y="1857760"/>
                </a:lnTo>
                <a:lnTo>
                  <a:pt x="0" y="1857760"/>
                </a:lnTo>
                <a:lnTo>
                  <a:pt x="0" y="0"/>
                </a:lnTo>
                <a:close/>
              </a:path>
            </a:pathLst>
          </a:custGeom>
          <a:blipFill>
            <a:blip r:embed="rId9"/>
            <a:stretch>
              <a:fillRect l="0" t="-14606" r="0" b="-14606"/>
            </a:stretch>
          </a:blipFill>
        </p:spPr>
      </p:sp>
      <p:sp>
        <p:nvSpPr>
          <p:cNvPr name="Freeform 9" id="9"/>
          <p:cNvSpPr/>
          <p:nvPr/>
        </p:nvSpPr>
        <p:spPr>
          <a:xfrm flipH="false" flipV="false" rot="0">
            <a:off x="13475694" y="4886060"/>
            <a:ext cx="3783606" cy="2137304"/>
          </a:xfrm>
          <a:custGeom>
            <a:avLst/>
            <a:gdLst/>
            <a:ahLst/>
            <a:cxnLst/>
            <a:rect r="r" b="b" t="t" l="l"/>
            <a:pathLst>
              <a:path h="2137304" w="3783606">
                <a:moveTo>
                  <a:pt x="0" y="0"/>
                </a:moveTo>
                <a:lnTo>
                  <a:pt x="3783606" y="0"/>
                </a:lnTo>
                <a:lnTo>
                  <a:pt x="3783606" y="2137305"/>
                </a:lnTo>
                <a:lnTo>
                  <a:pt x="0" y="2137305"/>
                </a:lnTo>
                <a:lnTo>
                  <a:pt x="0" y="0"/>
                </a:lnTo>
                <a:close/>
              </a:path>
            </a:pathLst>
          </a:custGeom>
          <a:blipFill>
            <a:blip r:embed="rId10"/>
            <a:stretch>
              <a:fillRect l="0" t="0" r="0" b="0"/>
            </a:stretch>
          </a:blipFill>
        </p:spPr>
      </p:sp>
      <p:sp>
        <p:nvSpPr>
          <p:cNvPr name="Freeform 10" id="10"/>
          <p:cNvSpPr/>
          <p:nvPr/>
        </p:nvSpPr>
        <p:spPr>
          <a:xfrm flipH="false" flipV="false" rot="0">
            <a:off x="5477797" y="8193993"/>
            <a:ext cx="3812269" cy="1324831"/>
          </a:xfrm>
          <a:custGeom>
            <a:avLst/>
            <a:gdLst/>
            <a:ahLst/>
            <a:cxnLst/>
            <a:rect r="r" b="b" t="t" l="l"/>
            <a:pathLst>
              <a:path h="1324831" w="3812269">
                <a:moveTo>
                  <a:pt x="0" y="0"/>
                </a:moveTo>
                <a:lnTo>
                  <a:pt x="3812269" y="0"/>
                </a:lnTo>
                <a:lnTo>
                  <a:pt x="3812269" y="1324831"/>
                </a:lnTo>
                <a:lnTo>
                  <a:pt x="0" y="1324831"/>
                </a:lnTo>
                <a:lnTo>
                  <a:pt x="0" y="0"/>
                </a:lnTo>
                <a:close/>
              </a:path>
            </a:pathLst>
          </a:custGeom>
          <a:blipFill>
            <a:blip r:embed="rId11"/>
            <a:stretch>
              <a:fillRect l="0" t="0" r="0" b="0"/>
            </a:stretch>
          </a:blipFill>
        </p:spPr>
      </p:sp>
      <p:sp>
        <p:nvSpPr>
          <p:cNvPr name="Freeform 11" id="11"/>
          <p:cNvSpPr/>
          <p:nvPr/>
        </p:nvSpPr>
        <p:spPr>
          <a:xfrm flipH="false" flipV="false" rot="0">
            <a:off x="9566291" y="7775215"/>
            <a:ext cx="1937192" cy="2162386"/>
          </a:xfrm>
          <a:custGeom>
            <a:avLst/>
            <a:gdLst/>
            <a:ahLst/>
            <a:cxnLst/>
            <a:rect r="r" b="b" t="t" l="l"/>
            <a:pathLst>
              <a:path h="2162386" w="1937192">
                <a:moveTo>
                  <a:pt x="0" y="0"/>
                </a:moveTo>
                <a:lnTo>
                  <a:pt x="1937192" y="0"/>
                </a:lnTo>
                <a:lnTo>
                  <a:pt x="1937192" y="2162386"/>
                </a:lnTo>
                <a:lnTo>
                  <a:pt x="0" y="2162386"/>
                </a:lnTo>
                <a:lnTo>
                  <a:pt x="0" y="0"/>
                </a:lnTo>
                <a:close/>
              </a:path>
            </a:pathLst>
          </a:custGeom>
          <a:blipFill>
            <a:blip r:embed="rId12"/>
            <a:stretch>
              <a:fillRect l="0" t="-6284" r="0" b="-6284"/>
            </a:stretch>
          </a:blipFill>
        </p:spPr>
      </p:sp>
      <p:sp>
        <p:nvSpPr>
          <p:cNvPr name="Freeform 12" id="12"/>
          <p:cNvSpPr/>
          <p:nvPr/>
        </p:nvSpPr>
        <p:spPr>
          <a:xfrm flipH="false" flipV="false" rot="0">
            <a:off x="12210439" y="7887493"/>
            <a:ext cx="4190078" cy="968915"/>
          </a:xfrm>
          <a:custGeom>
            <a:avLst/>
            <a:gdLst/>
            <a:ahLst/>
            <a:cxnLst/>
            <a:rect r="r" b="b" t="t" l="l"/>
            <a:pathLst>
              <a:path h="968915" w="4190078">
                <a:moveTo>
                  <a:pt x="0" y="0"/>
                </a:moveTo>
                <a:lnTo>
                  <a:pt x="4190078" y="0"/>
                </a:lnTo>
                <a:lnTo>
                  <a:pt x="4190078" y="968915"/>
                </a:lnTo>
                <a:lnTo>
                  <a:pt x="0" y="968915"/>
                </a:lnTo>
                <a:lnTo>
                  <a:pt x="0" y="0"/>
                </a:lnTo>
                <a:close/>
              </a:path>
            </a:pathLst>
          </a:custGeom>
          <a:blipFill>
            <a:blip r:embed="rId13"/>
            <a:stretch>
              <a:fillRect l="0" t="0" r="0" b="0"/>
            </a:stretch>
          </a:blipFill>
        </p:spPr>
      </p:sp>
      <p:sp>
        <p:nvSpPr>
          <p:cNvPr name="TextBox 13" id="13"/>
          <p:cNvSpPr txBox="true"/>
          <p:nvPr/>
        </p:nvSpPr>
        <p:spPr>
          <a:xfrm rot="0">
            <a:off x="2146128" y="684212"/>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Go to “Merge Columns” in Add Column tab .</a:t>
            </a:r>
          </a:p>
        </p:txBody>
      </p:sp>
      <p:sp>
        <p:nvSpPr>
          <p:cNvPr name="TextBox 14" id="14"/>
          <p:cNvSpPr txBox="true"/>
          <p:nvPr/>
        </p:nvSpPr>
        <p:spPr>
          <a:xfrm rot="0">
            <a:off x="6146629" y="2544021"/>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Give the separator as colon(:) and name it “time_”.</a:t>
            </a:r>
          </a:p>
        </p:txBody>
      </p:sp>
      <p:sp>
        <p:nvSpPr>
          <p:cNvPr name="TextBox 15" id="15"/>
          <p:cNvSpPr txBox="true"/>
          <p:nvPr/>
        </p:nvSpPr>
        <p:spPr>
          <a:xfrm rot="0">
            <a:off x="4906360" y="5010150"/>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Now , to complete the date format, go to transform tab then click “Format” and then choose “Add Suffix”  and give value “:00”.</a:t>
            </a:r>
          </a:p>
        </p:txBody>
      </p:sp>
      <p:sp>
        <p:nvSpPr>
          <p:cNvPr name="TextBox 16" id="16"/>
          <p:cNvSpPr txBox="true"/>
          <p:nvPr/>
        </p:nvSpPr>
        <p:spPr>
          <a:xfrm rot="0">
            <a:off x="2183672" y="8311712"/>
            <a:ext cx="3018949"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Convert the format to “Duration”.</a:t>
            </a:r>
          </a:p>
        </p:txBody>
      </p:sp>
      <p:sp>
        <p:nvSpPr>
          <p:cNvPr name="TextBox 17" id="17"/>
          <p:cNvSpPr txBox="true"/>
          <p:nvPr/>
        </p:nvSpPr>
        <p:spPr>
          <a:xfrm rot="0">
            <a:off x="13244420" y="8988981"/>
            <a:ext cx="2653711" cy="840237"/>
          </a:xfrm>
          <a:prstGeom prst="rect">
            <a:avLst/>
          </a:prstGeom>
        </p:spPr>
        <p:txBody>
          <a:bodyPr anchor="t" rtlCol="false" tIns="0" lIns="0" bIns="0" rIns="0">
            <a:spAutoFit/>
          </a:bodyPr>
          <a:lstStyle/>
          <a:p>
            <a:pPr algn="just" marL="0" indent="0" lvl="0">
              <a:lnSpc>
                <a:spcPts val="3468"/>
              </a:lnSpc>
            </a:pPr>
            <a:r>
              <a:rPr lang="en-US" sz="2040">
                <a:solidFill>
                  <a:srgbClr val="000000"/>
                </a:solidFill>
                <a:latin typeface="Guild A Display"/>
                <a:ea typeface="Guild A Display"/>
                <a:cs typeface="Guild A Display"/>
                <a:sym typeface="Guild A Display"/>
              </a:rPr>
              <a:t>Remove the “hours” and “minutes” columns</a:t>
            </a:r>
          </a:p>
        </p:txBody>
      </p:sp>
      <p:sp>
        <p:nvSpPr>
          <p:cNvPr name="Freeform 18" id="18"/>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4"/>
            <a:stretch>
              <a:fillRect l="0" t="0" r="-9528"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699594" y="2741149"/>
            <a:ext cx="2062170" cy="1202201"/>
          </a:xfrm>
          <a:custGeom>
            <a:avLst/>
            <a:gdLst/>
            <a:ahLst/>
            <a:cxnLst/>
            <a:rect r="r" b="b" t="t" l="l"/>
            <a:pathLst>
              <a:path h="1202201" w="2062170">
                <a:moveTo>
                  <a:pt x="0" y="0"/>
                </a:moveTo>
                <a:lnTo>
                  <a:pt x="2062171" y="0"/>
                </a:lnTo>
                <a:lnTo>
                  <a:pt x="2062171" y="1202201"/>
                </a:lnTo>
                <a:lnTo>
                  <a:pt x="0" y="1202201"/>
                </a:lnTo>
                <a:lnTo>
                  <a:pt x="0" y="0"/>
                </a:lnTo>
                <a:close/>
              </a:path>
            </a:pathLst>
          </a:custGeom>
          <a:blipFill>
            <a:blip r:embed="rId6"/>
            <a:stretch>
              <a:fillRect l="0" t="0" r="0" b="0"/>
            </a:stretch>
          </a:blipFill>
        </p:spPr>
      </p:sp>
      <p:sp>
        <p:nvSpPr>
          <p:cNvPr name="Freeform 8" id="8"/>
          <p:cNvSpPr/>
          <p:nvPr/>
        </p:nvSpPr>
        <p:spPr>
          <a:xfrm flipH="false" flipV="false" rot="0">
            <a:off x="11699594" y="4278298"/>
            <a:ext cx="2140175" cy="1730405"/>
          </a:xfrm>
          <a:custGeom>
            <a:avLst/>
            <a:gdLst/>
            <a:ahLst/>
            <a:cxnLst/>
            <a:rect r="r" b="b" t="t" l="l"/>
            <a:pathLst>
              <a:path h="1730405" w="2140175">
                <a:moveTo>
                  <a:pt x="0" y="0"/>
                </a:moveTo>
                <a:lnTo>
                  <a:pt x="2140176" y="0"/>
                </a:lnTo>
                <a:lnTo>
                  <a:pt x="2140176" y="1730404"/>
                </a:lnTo>
                <a:lnTo>
                  <a:pt x="0" y="1730404"/>
                </a:lnTo>
                <a:lnTo>
                  <a:pt x="0" y="0"/>
                </a:lnTo>
                <a:close/>
              </a:path>
            </a:pathLst>
          </a:custGeom>
          <a:blipFill>
            <a:blip r:embed="rId7"/>
            <a:stretch>
              <a:fillRect l="-11829" t="0" r="-11829" b="0"/>
            </a:stretch>
          </a:blipFill>
        </p:spPr>
      </p:sp>
      <p:sp>
        <p:nvSpPr>
          <p:cNvPr name="Freeform 9" id="9"/>
          <p:cNvSpPr/>
          <p:nvPr/>
        </p:nvSpPr>
        <p:spPr>
          <a:xfrm flipH="false" flipV="false" rot="0">
            <a:off x="3452014" y="6260902"/>
            <a:ext cx="2974528" cy="2530280"/>
          </a:xfrm>
          <a:custGeom>
            <a:avLst/>
            <a:gdLst/>
            <a:ahLst/>
            <a:cxnLst/>
            <a:rect r="r" b="b" t="t" l="l"/>
            <a:pathLst>
              <a:path h="2530280" w="2974528">
                <a:moveTo>
                  <a:pt x="0" y="0"/>
                </a:moveTo>
                <a:lnTo>
                  <a:pt x="2974528" y="0"/>
                </a:lnTo>
                <a:lnTo>
                  <a:pt x="2974528" y="2530280"/>
                </a:lnTo>
                <a:lnTo>
                  <a:pt x="0" y="2530280"/>
                </a:lnTo>
                <a:lnTo>
                  <a:pt x="0" y="0"/>
                </a:lnTo>
                <a:close/>
              </a:path>
            </a:pathLst>
          </a:custGeom>
          <a:blipFill>
            <a:blip r:embed="rId8"/>
            <a:stretch>
              <a:fillRect l="0" t="0" r="0" b="0"/>
            </a:stretch>
          </a:blipFill>
        </p:spPr>
      </p:sp>
      <p:sp>
        <p:nvSpPr>
          <p:cNvPr name="Freeform 10" id="10"/>
          <p:cNvSpPr/>
          <p:nvPr/>
        </p:nvSpPr>
        <p:spPr>
          <a:xfrm flipH="false" flipV="false" rot="0">
            <a:off x="15279553" y="6260902"/>
            <a:ext cx="1855502" cy="2679594"/>
          </a:xfrm>
          <a:custGeom>
            <a:avLst/>
            <a:gdLst/>
            <a:ahLst/>
            <a:cxnLst/>
            <a:rect r="r" b="b" t="t" l="l"/>
            <a:pathLst>
              <a:path h="2679594" w="1855502">
                <a:moveTo>
                  <a:pt x="0" y="0"/>
                </a:moveTo>
                <a:lnTo>
                  <a:pt x="1855502" y="0"/>
                </a:lnTo>
                <a:lnTo>
                  <a:pt x="1855502" y="2679594"/>
                </a:lnTo>
                <a:lnTo>
                  <a:pt x="0" y="2679594"/>
                </a:lnTo>
                <a:lnTo>
                  <a:pt x="0" y="0"/>
                </a:lnTo>
                <a:close/>
              </a:path>
            </a:pathLst>
          </a:custGeom>
          <a:blipFill>
            <a:blip r:embed="rId9"/>
            <a:stretch>
              <a:fillRect l="0" t="0" r="0" b="0"/>
            </a:stretch>
          </a:blipFill>
        </p:spPr>
      </p:sp>
      <p:sp>
        <p:nvSpPr>
          <p:cNvPr name="TextBox 11" id="11"/>
          <p:cNvSpPr txBox="true"/>
          <p:nvPr/>
        </p:nvSpPr>
        <p:spPr>
          <a:xfrm rot="0">
            <a:off x="3504444" y="1248615"/>
            <a:ext cx="13630611" cy="1016305"/>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ENSURE THE PRICE COLUMN IS IN A NUMERIC FORMAT, AND IDENTIFY ANY NON-NUMERIC VALUES.</a:t>
            </a:r>
          </a:p>
          <a:p>
            <a:pPr algn="just" marL="0" indent="0" lvl="0">
              <a:lnSpc>
                <a:spcPts val="610"/>
              </a:lnSpc>
            </a:pPr>
          </a:p>
        </p:txBody>
      </p:sp>
      <p:sp>
        <p:nvSpPr>
          <p:cNvPr name="TextBox 12" id="12"/>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05</a:t>
            </a:r>
          </a:p>
        </p:txBody>
      </p:sp>
      <p:sp>
        <p:nvSpPr>
          <p:cNvPr name="TextBox 13" id="13"/>
          <p:cNvSpPr txBox="true"/>
          <p:nvPr/>
        </p:nvSpPr>
        <p:spPr>
          <a:xfrm rot="0">
            <a:off x="3452014" y="2787650"/>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To ensure , we can choose “Demical Numbers” from format in column.</a:t>
            </a:r>
          </a:p>
        </p:txBody>
      </p:sp>
      <p:sp>
        <p:nvSpPr>
          <p:cNvPr name="TextBox 14" id="14"/>
          <p:cNvSpPr txBox="true"/>
          <p:nvPr/>
        </p:nvSpPr>
        <p:spPr>
          <a:xfrm rot="0">
            <a:off x="3452014" y="4457502"/>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Secondly, right click on column and “Replace Errors” with “null”.</a:t>
            </a:r>
          </a:p>
        </p:txBody>
      </p:sp>
      <p:sp>
        <p:nvSpPr>
          <p:cNvPr name="TextBox 15" id="15"/>
          <p:cNvSpPr txBox="true"/>
          <p:nvPr/>
        </p:nvSpPr>
        <p:spPr>
          <a:xfrm rot="0">
            <a:off x="6852546" y="6523052"/>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We can now use the drop down to filter “null” values to identify the missing values in price column.</a:t>
            </a:r>
          </a:p>
        </p:txBody>
      </p:sp>
      <p:sp>
        <p:nvSpPr>
          <p:cNvPr name="Freeform 16" id="16"/>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341651" y="5143500"/>
            <a:ext cx="3083699" cy="1769335"/>
          </a:xfrm>
          <a:custGeom>
            <a:avLst/>
            <a:gdLst/>
            <a:ahLst/>
            <a:cxnLst/>
            <a:rect r="r" b="b" t="t" l="l"/>
            <a:pathLst>
              <a:path h="1769335" w="3083699">
                <a:moveTo>
                  <a:pt x="0" y="0"/>
                </a:moveTo>
                <a:lnTo>
                  <a:pt x="3083699" y="0"/>
                </a:lnTo>
                <a:lnTo>
                  <a:pt x="3083699" y="1769335"/>
                </a:lnTo>
                <a:lnTo>
                  <a:pt x="0" y="1769335"/>
                </a:lnTo>
                <a:lnTo>
                  <a:pt x="0" y="0"/>
                </a:lnTo>
                <a:close/>
              </a:path>
            </a:pathLst>
          </a:custGeom>
          <a:blipFill>
            <a:blip r:embed="rId6"/>
            <a:stretch>
              <a:fillRect l="0" t="0" r="0" b="0"/>
            </a:stretch>
          </a:blipFill>
        </p:spPr>
      </p:sp>
      <p:sp>
        <p:nvSpPr>
          <p:cNvPr name="Freeform 6" id="6"/>
          <p:cNvSpPr/>
          <p:nvPr/>
        </p:nvSpPr>
        <p:spPr>
          <a:xfrm flipH="false" flipV="false" rot="0">
            <a:off x="9502616" y="7500812"/>
            <a:ext cx="3678070" cy="1757488"/>
          </a:xfrm>
          <a:custGeom>
            <a:avLst/>
            <a:gdLst/>
            <a:ahLst/>
            <a:cxnLst/>
            <a:rect r="r" b="b" t="t" l="l"/>
            <a:pathLst>
              <a:path h="1757488" w="3678070">
                <a:moveTo>
                  <a:pt x="0" y="0"/>
                </a:moveTo>
                <a:lnTo>
                  <a:pt x="3678070" y="0"/>
                </a:lnTo>
                <a:lnTo>
                  <a:pt x="3678070" y="1757488"/>
                </a:lnTo>
                <a:lnTo>
                  <a:pt x="0" y="1757488"/>
                </a:lnTo>
                <a:lnTo>
                  <a:pt x="0" y="0"/>
                </a:lnTo>
                <a:close/>
              </a:path>
            </a:pathLst>
          </a:custGeom>
          <a:blipFill>
            <a:blip r:embed="rId7"/>
            <a:stretch>
              <a:fillRect l="0" t="-7778" r="0" b="-7778"/>
            </a:stretch>
          </a:blipFill>
        </p:spPr>
      </p:sp>
      <p:sp>
        <p:nvSpPr>
          <p:cNvPr name="Freeform 7" id="7"/>
          <p:cNvSpPr/>
          <p:nvPr/>
        </p:nvSpPr>
        <p:spPr>
          <a:xfrm flipH="false" flipV="false" rot="0">
            <a:off x="2256564" y="2559210"/>
            <a:ext cx="5195562" cy="1979262"/>
          </a:xfrm>
          <a:custGeom>
            <a:avLst/>
            <a:gdLst/>
            <a:ahLst/>
            <a:cxnLst/>
            <a:rect r="r" b="b" t="t" l="l"/>
            <a:pathLst>
              <a:path h="1979262" w="5195562">
                <a:moveTo>
                  <a:pt x="0" y="0"/>
                </a:moveTo>
                <a:lnTo>
                  <a:pt x="5195562" y="0"/>
                </a:lnTo>
                <a:lnTo>
                  <a:pt x="5195562" y="1979262"/>
                </a:lnTo>
                <a:lnTo>
                  <a:pt x="0" y="1979262"/>
                </a:lnTo>
                <a:lnTo>
                  <a:pt x="0" y="0"/>
                </a:lnTo>
                <a:close/>
              </a:path>
            </a:pathLst>
          </a:custGeom>
          <a:blipFill>
            <a:blip r:embed="rId8"/>
            <a:stretch>
              <a:fillRect l="0" t="0" r="0" b="0"/>
            </a:stretch>
          </a:blipFill>
        </p:spPr>
      </p:sp>
      <p:sp>
        <p:nvSpPr>
          <p:cNvPr name="TextBox 8" id="8"/>
          <p:cNvSpPr txBox="true"/>
          <p:nvPr/>
        </p:nvSpPr>
        <p:spPr>
          <a:xfrm rot="0">
            <a:off x="3504444" y="1248615"/>
            <a:ext cx="13630611" cy="1016305"/>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CONVERT TEXT RATINGS IN THE STARS COLUMN TO NUMERIC VALUES.</a:t>
            </a:r>
          </a:p>
          <a:p>
            <a:pPr algn="just" marL="0" indent="0" lvl="0">
              <a:lnSpc>
                <a:spcPts val="610"/>
              </a:lnSpc>
            </a:pPr>
          </a:p>
        </p:txBody>
      </p:sp>
      <p:sp>
        <p:nvSpPr>
          <p:cNvPr name="TextBox 9" id="9"/>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06</a:t>
            </a:r>
          </a:p>
        </p:txBody>
      </p:sp>
      <p:sp>
        <p:nvSpPr>
          <p:cNvPr name="TextBox 10" id="10"/>
          <p:cNvSpPr txBox="true"/>
          <p:nvPr/>
        </p:nvSpPr>
        <p:spPr>
          <a:xfrm rot="0">
            <a:off x="7765181" y="2162490"/>
            <a:ext cx="9707817" cy="235585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Let’s begin with understanding how the values are in the “ratings” column. Using drop down and scrolling through the values , observe the pattern “5 out of 5 stars9 ratings” and “Not rated yet” . Values mostly comply with this pattern.</a:t>
            </a:r>
          </a:p>
        </p:txBody>
      </p:sp>
      <p:sp>
        <p:nvSpPr>
          <p:cNvPr name="TextBox 11" id="11"/>
          <p:cNvSpPr txBox="true"/>
          <p:nvPr/>
        </p:nvSpPr>
        <p:spPr>
          <a:xfrm rot="0">
            <a:off x="2256564" y="5429485"/>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Using “Text Before Delimiter” in “Extract” of add column to get the rating number, like 5,4 etc.</a:t>
            </a:r>
          </a:p>
        </p:txBody>
      </p:sp>
      <p:sp>
        <p:nvSpPr>
          <p:cNvPr name="TextBox 12" id="12"/>
          <p:cNvSpPr txBox="true"/>
          <p:nvPr/>
        </p:nvSpPr>
        <p:spPr>
          <a:xfrm rot="0">
            <a:off x="2256564" y="7881809"/>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In the dialog box, give Delimiter as “out”</a:t>
            </a:r>
          </a:p>
        </p:txBody>
      </p:sp>
      <p:sp>
        <p:nvSpPr>
          <p:cNvPr name="Freeform 13" id="13"/>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9"/>
            <a:stretch>
              <a:fillRect l="0" t="0" r="-9528"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true" flipV="false" rot="10284198">
            <a:off x="11429986" y="-3416142"/>
            <a:ext cx="7511977" cy="9699130"/>
          </a:xfrm>
          <a:custGeom>
            <a:avLst/>
            <a:gdLst/>
            <a:ahLst/>
            <a:cxnLst/>
            <a:rect r="r" b="b" t="t" l="l"/>
            <a:pathLst>
              <a:path h="9699130" w="7511977">
                <a:moveTo>
                  <a:pt x="7511977" y="0"/>
                </a:moveTo>
                <a:lnTo>
                  <a:pt x="0" y="0"/>
                </a:lnTo>
                <a:lnTo>
                  <a:pt x="0" y="9699131"/>
                </a:lnTo>
                <a:lnTo>
                  <a:pt x="7511977" y="9699131"/>
                </a:lnTo>
                <a:lnTo>
                  <a:pt x="751197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559210"/>
            <a:ext cx="5985173" cy="7727790"/>
          </a:xfrm>
          <a:custGeom>
            <a:avLst/>
            <a:gdLst/>
            <a:ahLst/>
            <a:cxnLst/>
            <a:rect r="r" b="b" t="t" l="l"/>
            <a:pathLst>
              <a:path h="7727790" w="5985173">
                <a:moveTo>
                  <a:pt x="5985173" y="0"/>
                </a:moveTo>
                <a:lnTo>
                  <a:pt x="0" y="0"/>
                </a:lnTo>
                <a:lnTo>
                  <a:pt x="0" y="7727790"/>
                </a:lnTo>
                <a:lnTo>
                  <a:pt x="5985173" y="7727790"/>
                </a:lnTo>
                <a:lnTo>
                  <a:pt x="5985173"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819488" y="834247"/>
            <a:ext cx="4181482" cy="988981"/>
          </a:xfrm>
          <a:custGeom>
            <a:avLst/>
            <a:gdLst/>
            <a:ahLst/>
            <a:cxnLst/>
            <a:rect r="r" b="b" t="t" l="l"/>
            <a:pathLst>
              <a:path h="988981" w="4181482">
                <a:moveTo>
                  <a:pt x="0" y="0"/>
                </a:moveTo>
                <a:lnTo>
                  <a:pt x="4181482" y="0"/>
                </a:lnTo>
                <a:lnTo>
                  <a:pt x="4181482" y="988981"/>
                </a:lnTo>
                <a:lnTo>
                  <a:pt x="0" y="988981"/>
                </a:lnTo>
                <a:lnTo>
                  <a:pt x="0" y="0"/>
                </a:lnTo>
                <a:close/>
              </a:path>
            </a:pathLst>
          </a:custGeom>
          <a:blipFill>
            <a:blip r:embed="rId6"/>
            <a:stretch>
              <a:fillRect l="0" t="0" r="0" b="0"/>
            </a:stretch>
          </a:blipFill>
        </p:spPr>
      </p:sp>
      <p:sp>
        <p:nvSpPr>
          <p:cNvPr name="Freeform 6" id="6"/>
          <p:cNvSpPr/>
          <p:nvPr/>
        </p:nvSpPr>
        <p:spPr>
          <a:xfrm flipH="false" flipV="false" rot="0">
            <a:off x="2180866" y="3174645"/>
            <a:ext cx="3020061" cy="2314739"/>
          </a:xfrm>
          <a:custGeom>
            <a:avLst/>
            <a:gdLst/>
            <a:ahLst/>
            <a:cxnLst/>
            <a:rect r="r" b="b" t="t" l="l"/>
            <a:pathLst>
              <a:path h="2314739" w="3020061">
                <a:moveTo>
                  <a:pt x="0" y="0"/>
                </a:moveTo>
                <a:lnTo>
                  <a:pt x="3020061" y="0"/>
                </a:lnTo>
                <a:lnTo>
                  <a:pt x="3020061" y="2314739"/>
                </a:lnTo>
                <a:lnTo>
                  <a:pt x="0" y="2314739"/>
                </a:lnTo>
                <a:lnTo>
                  <a:pt x="0" y="0"/>
                </a:lnTo>
                <a:close/>
              </a:path>
            </a:pathLst>
          </a:custGeom>
          <a:blipFill>
            <a:blip r:embed="rId7"/>
            <a:stretch>
              <a:fillRect l="0" t="0" r="0" b="0"/>
            </a:stretch>
          </a:blipFill>
        </p:spPr>
      </p:sp>
      <p:sp>
        <p:nvSpPr>
          <p:cNvPr name="Freeform 7" id="7"/>
          <p:cNvSpPr/>
          <p:nvPr/>
        </p:nvSpPr>
        <p:spPr>
          <a:xfrm flipH="false" flipV="false" rot="0">
            <a:off x="12162522" y="3092946"/>
            <a:ext cx="3834801" cy="2050554"/>
          </a:xfrm>
          <a:custGeom>
            <a:avLst/>
            <a:gdLst/>
            <a:ahLst/>
            <a:cxnLst/>
            <a:rect r="r" b="b" t="t" l="l"/>
            <a:pathLst>
              <a:path h="2050554" w="3834801">
                <a:moveTo>
                  <a:pt x="0" y="0"/>
                </a:moveTo>
                <a:lnTo>
                  <a:pt x="3834801" y="0"/>
                </a:lnTo>
                <a:lnTo>
                  <a:pt x="3834801" y="2050554"/>
                </a:lnTo>
                <a:lnTo>
                  <a:pt x="0" y="2050554"/>
                </a:lnTo>
                <a:lnTo>
                  <a:pt x="0" y="0"/>
                </a:lnTo>
                <a:close/>
              </a:path>
            </a:pathLst>
          </a:custGeom>
          <a:blipFill>
            <a:blip r:embed="rId8"/>
            <a:stretch>
              <a:fillRect l="0" t="0" r="0" b="0"/>
            </a:stretch>
          </a:blipFill>
        </p:spPr>
      </p:sp>
      <p:sp>
        <p:nvSpPr>
          <p:cNvPr name="Freeform 8" id="8"/>
          <p:cNvSpPr/>
          <p:nvPr/>
        </p:nvSpPr>
        <p:spPr>
          <a:xfrm flipH="false" flipV="false" rot="0">
            <a:off x="2180866" y="6524079"/>
            <a:ext cx="4692477" cy="1943349"/>
          </a:xfrm>
          <a:custGeom>
            <a:avLst/>
            <a:gdLst/>
            <a:ahLst/>
            <a:cxnLst/>
            <a:rect r="r" b="b" t="t" l="l"/>
            <a:pathLst>
              <a:path h="1943349" w="4692477">
                <a:moveTo>
                  <a:pt x="0" y="0"/>
                </a:moveTo>
                <a:lnTo>
                  <a:pt x="4692477" y="0"/>
                </a:lnTo>
                <a:lnTo>
                  <a:pt x="4692477" y="1943349"/>
                </a:lnTo>
                <a:lnTo>
                  <a:pt x="0" y="1943349"/>
                </a:lnTo>
                <a:lnTo>
                  <a:pt x="0" y="0"/>
                </a:lnTo>
                <a:close/>
              </a:path>
            </a:pathLst>
          </a:custGeom>
          <a:blipFill>
            <a:blip r:embed="rId9"/>
            <a:stretch>
              <a:fillRect l="0" t="0" r="0" b="0"/>
            </a:stretch>
          </a:blipFill>
        </p:spPr>
      </p:sp>
      <p:sp>
        <p:nvSpPr>
          <p:cNvPr name="Freeform 9" id="9"/>
          <p:cNvSpPr/>
          <p:nvPr/>
        </p:nvSpPr>
        <p:spPr>
          <a:xfrm flipH="false" flipV="false" rot="0">
            <a:off x="14378453" y="6683741"/>
            <a:ext cx="2015103" cy="2267051"/>
          </a:xfrm>
          <a:custGeom>
            <a:avLst/>
            <a:gdLst/>
            <a:ahLst/>
            <a:cxnLst/>
            <a:rect r="r" b="b" t="t" l="l"/>
            <a:pathLst>
              <a:path h="2267051" w="2015103">
                <a:moveTo>
                  <a:pt x="0" y="0"/>
                </a:moveTo>
                <a:lnTo>
                  <a:pt x="2015102" y="0"/>
                </a:lnTo>
                <a:lnTo>
                  <a:pt x="2015102" y="2267051"/>
                </a:lnTo>
                <a:lnTo>
                  <a:pt x="0" y="2267051"/>
                </a:lnTo>
                <a:lnTo>
                  <a:pt x="0" y="0"/>
                </a:lnTo>
                <a:close/>
              </a:path>
            </a:pathLst>
          </a:custGeom>
          <a:blipFill>
            <a:blip r:embed="rId10"/>
            <a:stretch>
              <a:fillRect l="0" t="-13567" r="0" b="-13567"/>
            </a:stretch>
          </a:blipFill>
        </p:spPr>
      </p:sp>
      <p:sp>
        <p:nvSpPr>
          <p:cNvPr name="TextBox 10" id="10"/>
          <p:cNvSpPr txBox="true"/>
          <p:nvPr/>
        </p:nvSpPr>
        <p:spPr>
          <a:xfrm rot="0">
            <a:off x="2180866" y="384175"/>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Change the format of the created column to Decimal Number. It’ll give some values as error that correspondes to “Not rated yet”.</a:t>
            </a:r>
          </a:p>
        </p:txBody>
      </p:sp>
      <p:sp>
        <p:nvSpPr>
          <p:cNvPr name="TextBox 11" id="11"/>
          <p:cNvSpPr txBox="true"/>
          <p:nvPr/>
        </p:nvSpPr>
        <p:spPr>
          <a:xfrm rot="0">
            <a:off x="5490323" y="3188299"/>
            <a:ext cx="6386448"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The errors can be replaced with “null” using right click and selecting ”Replace Errors”.</a:t>
            </a:r>
          </a:p>
        </p:txBody>
      </p:sp>
      <p:sp>
        <p:nvSpPr>
          <p:cNvPr name="TextBox 12" id="12"/>
          <p:cNvSpPr txBox="true"/>
          <p:nvPr/>
        </p:nvSpPr>
        <p:spPr>
          <a:xfrm rot="0">
            <a:off x="7235820" y="6851229"/>
            <a:ext cx="6386448"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Once we are done with above step, we will get the values in numeric format with non-numeric values as null.</a:t>
            </a:r>
          </a:p>
        </p:txBody>
      </p:sp>
      <p:sp>
        <p:nvSpPr>
          <p:cNvPr name="Freeform 13" id="13"/>
          <p:cNvSpPr/>
          <p:nvPr/>
        </p:nvSpPr>
        <p:spPr>
          <a:xfrm flipH="false" flipV="false" rot="0">
            <a:off x="1638005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1"/>
            <a:stretch>
              <a:fillRect l="0" t="0" r="-9528"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218045" y="2564505"/>
            <a:ext cx="3639335" cy="1858686"/>
          </a:xfrm>
          <a:custGeom>
            <a:avLst/>
            <a:gdLst/>
            <a:ahLst/>
            <a:cxnLst/>
            <a:rect r="r" b="b" t="t" l="l"/>
            <a:pathLst>
              <a:path h="1858686" w="3639335">
                <a:moveTo>
                  <a:pt x="0" y="0"/>
                </a:moveTo>
                <a:lnTo>
                  <a:pt x="3639335" y="0"/>
                </a:lnTo>
                <a:lnTo>
                  <a:pt x="3639335" y="1858686"/>
                </a:lnTo>
                <a:lnTo>
                  <a:pt x="0" y="1858686"/>
                </a:lnTo>
                <a:lnTo>
                  <a:pt x="0" y="0"/>
                </a:lnTo>
                <a:close/>
              </a:path>
            </a:pathLst>
          </a:custGeom>
          <a:blipFill>
            <a:blip r:embed="rId6"/>
            <a:stretch>
              <a:fillRect l="0" t="0" r="0" b="0"/>
            </a:stretch>
          </a:blipFill>
        </p:spPr>
      </p:sp>
      <p:sp>
        <p:nvSpPr>
          <p:cNvPr name="Freeform 8" id="8"/>
          <p:cNvSpPr/>
          <p:nvPr/>
        </p:nvSpPr>
        <p:spPr>
          <a:xfrm flipH="false" flipV="false" rot="0">
            <a:off x="12218045" y="4885021"/>
            <a:ext cx="6285931" cy="1720191"/>
          </a:xfrm>
          <a:custGeom>
            <a:avLst/>
            <a:gdLst/>
            <a:ahLst/>
            <a:cxnLst/>
            <a:rect r="r" b="b" t="t" l="l"/>
            <a:pathLst>
              <a:path h="1720191" w="6285931">
                <a:moveTo>
                  <a:pt x="0" y="0"/>
                </a:moveTo>
                <a:lnTo>
                  <a:pt x="6285931" y="0"/>
                </a:lnTo>
                <a:lnTo>
                  <a:pt x="6285931" y="1720191"/>
                </a:lnTo>
                <a:lnTo>
                  <a:pt x="0" y="1720191"/>
                </a:lnTo>
                <a:lnTo>
                  <a:pt x="0" y="0"/>
                </a:lnTo>
                <a:close/>
              </a:path>
            </a:pathLst>
          </a:custGeom>
          <a:blipFill>
            <a:blip r:embed="rId7"/>
            <a:stretch>
              <a:fillRect l="0" t="0" r="0" b="0"/>
            </a:stretch>
          </a:blipFill>
        </p:spPr>
      </p:sp>
      <p:sp>
        <p:nvSpPr>
          <p:cNvPr name="Freeform 9" id="9"/>
          <p:cNvSpPr/>
          <p:nvPr/>
        </p:nvSpPr>
        <p:spPr>
          <a:xfrm flipH="false" flipV="false" rot="0">
            <a:off x="3504444" y="4571898"/>
            <a:ext cx="2041288" cy="2033314"/>
          </a:xfrm>
          <a:custGeom>
            <a:avLst/>
            <a:gdLst/>
            <a:ahLst/>
            <a:cxnLst/>
            <a:rect r="r" b="b" t="t" l="l"/>
            <a:pathLst>
              <a:path h="2033314" w="2041288">
                <a:moveTo>
                  <a:pt x="0" y="0"/>
                </a:moveTo>
                <a:lnTo>
                  <a:pt x="2041288" y="0"/>
                </a:lnTo>
                <a:lnTo>
                  <a:pt x="2041288" y="2033314"/>
                </a:lnTo>
                <a:lnTo>
                  <a:pt x="0" y="2033314"/>
                </a:lnTo>
                <a:lnTo>
                  <a:pt x="0" y="0"/>
                </a:lnTo>
                <a:close/>
              </a:path>
            </a:pathLst>
          </a:custGeom>
          <a:blipFill>
            <a:blip r:embed="rId8"/>
            <a:stretch>
              <a:fillRect l="0" t="0" r="0" b="0"/>
            </a:stretch>
          </a:blipFill>
        </p:spPr>
      </p:sp>
      <p:sp>
        <p:nvSpPr>
          <p:cNvPr name="Freeform 10" id="10"/>
          <p:cNvSpPr/>
          <p:nvPr/>
        </p:nvSpPr>
        <p:spPr>
          <a:xfrm flipH="false" flipV="false" rot="0">
            <a:off x="3504444" y="6900487"/>
            <a:ext cx="2256719" cy="2995093"/>
          </a:xfrm>
          <a:custGeom>
            <a:avLst/>
            <a:gdLst/>
            <a:ahLst/>
            <a:cxnLst/>
            <a:rect r="r" b="b" t="t" l="l"/>
            <a:pathLst>
              <a:path h="2995093" w="2256719">
                <a:moveTo>
                  <a:pt x="0" y="0"/>
                </a:moveTo>
                <a:lnTo>
                  <a:pt x="2256719" y="0"/>
                </a:lnTo>
                <a:lnTo>
                  <a:pt x="2256719" y="2995093"/>
                </a:lnTo>
                <a:lnTo>
                  <a:pt x="0" y="2995093"/>
                </a:lnTo>
                <a:lnTo>
                  <a:pt x="0" y="0"/>
                </a:lnTo>
                <a:close/>
              </a:path>
            </a:pathLst>
          </a:custGeom>
          <a:blipFill>
            <a:blip r:embed="rId9"/>
            <a:stretch>
              <a:fillRect l="0" t="0" r="0" b="0"/>
            </a:stretch>
          </a:blipFill>
        </p:spPr>
      </p:sp>
      <p:sp>
        <p:nvSpPr>
          <p:cNvPr name="TextBox 11" id="11"/>
          <p:cNvSpPr txBox="true"/>
          <p:nvPr/>
        </p:nvSpPr>
        <p:spPr>
          <a:xfrm rot="0">
            <a:off x="3504444" y="1248615"/>
            <a:ext cx="13630611" cy="1016305"/>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SPLIT THE NARRATEDBY COLUMN INTO MULTIPLE COLUMNS IF MULTIPLE NARRATORS ARE LISTED.</a:t>
            </a:r>
          </a:p>
          <a:p>
            <a:pPr algn="just" marL="0" indent="0" lvl="0">
              <a:lnSpc>
                <a:spcPts val="610"/>
              </a:lnSpc>
            </a:pPr>
          </a:p>
        </p:txBody>
      </p:sp>
      <p:sp>
        <p:nvSpPr>
          <p:cNvPr name="TextBox 12" id="12"/>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07</a:t>
            </a:r>
          </a:p>
        </p:txBody>
      </p:sp>
      <p:sp>
        <p:nvSpPr>
          <p:cNvPr name="TextBox 13" id="13"/>
          <p:cNvSpPr txBox="true"/>
          <p:nvPr/>
        </p:nvSpPr>
        <p:spPr>
          <a:xfrm rot="0">
            <a:off x="3504444" y="2431155"/>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Let’s browse through the values in narrators column. Some cells have multiple names separated by comma(,).</a:t>
            </a:r>
          </a:p>
        </p:txBody>
      </p:sp>
      <p:sp>
        <p:nvSpPr>
          <p:cNvPr name="TextBox 14" id="14"/>
          <p:cNvSpPr txBox="true"/>
          <p:nvPr/>
        </p:nvSpPr>
        <p:spPr>
          <a:xfrm rot="0">
            <a:off x="5927711" y="5010150"/>
            <a:ext cx="6432578"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Go to “Extract” in Add Column choose “Text Before Delimiter and give the delimiter as “,”.</a:t>
            </a:r>
          </a:p>
        </p:txBody>
      </p:sp>
      <p:sp>
        <p:nvSpPr>
          <p:cNvPr name="TextBox 15" id="15"/>
          <p:cNvSpPr txBox="true"/>
          <p:nvPr/>
        </p:nvSpPr>
        <p:spPr>
          <a:xfrm rot="0">
            <a:off x="6525641" y="8053546"/>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The above step will give us the first name of the narrator in each cell.</a:t>
            </a:r>
          </a:p>
        </p:txBody>
      </p:sp>
      <p:sp>
        <p:nvSpPr>
          <p:cNvPr name="Freeform 16" id="16"/>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480128" y="299777"/>
            <a:ext cx="2163499" cy="2447687"/>
          </a:xfrm>
          <a:custGeom>
            <a:avLst/>
            <a:gdLst/>
            <a:ahLst/>
            <a:cxnLst/>
            <a:rect r="r" b="b" t="t" l="l"/>
            <a:pathLst>
              <a:path h="2447687" w="2163499">
                <a:moveTo>
                  <a:pt x="0" y="0"/>
                </a:moveTo>
                <a:lnTo>
                  <a:pt x="2163499" y="0"/>
                </a:lnTo>
                <a:lnTo>
                  <a:pt x="2163499" y="2447687"/>
                </a:lnTo>
                <a:lnTo>
                  <a:pt x="0" y="2447687"/>
                </a:lnTo>
                <a:lnTo>
                  <a:pt x="0" y="0"/>
                </a:lnTo>
                <a:close/>
              </a:path>
            </a:pathLst>
          </a:custGeom>
          <a:blipFill>
            <a:blip r:embed="rId6"/>
            <a:stretch>
              <a:fillRect l="0" t="0" r="0" b="0"/>
            </a:stretch>
          </a:blipFill>
        </p:spPr>
      </p:sp>
      <p:sp>
        <p:nvSpPr>
          <p:cNvPr name="Freeform 8" id="8"/>
          <p:cNvSpPr/>
          <p:nvPr/>
        </p:nvSpPr>
        <p:spPr>
          <a:xfrm flipH="false" flipV="false" rot="0">
            <a:off x="13400425" y="925300"/>
            <a:ext cx="3345293" cy="915464"/>
          </a:xfrm>
          <a:custGeom>
            <a:avLst/>
            <a:gdLst/>
            <a:ahLst/>
            <a:cxnLst/>
            <a:rect r="r" b="b" t="t" l="l"/>
            <a:pathLst>
              <a:path h="915464" w="3345293">
                <a:moveTo>
                  <a:pt x="0" y="0"/>
                </a:moveTo>
                <a:lnTo>
                  <a:pt x="3345293" y="0"/>
                </a:lnTo>
                <a:lnTo>
                  <a:pt x="3345293" y="915464"/>
                </a:lnTo>
                <a:lnTo>
                  <a:pt x="0" y="915464"/>
                </a:lnTo>
                <a:lnTo>
                  <a:pt x="0" y="0"/>
                </a:lnTo>
                <a:close/>
              </a:path>
            </a:pathLst>
          </a:custGeom>
          <a:blipFill>
            <a:blip r:embed="rId7"/>
            <a:stretch>
              <a:fillRect l="0" t="0" r="0" b="0"/>
            </a:stretch>
          </a:blipFill>
        </p:spPr>
      </p:sp>
      <p:sp>
        <p:nvSpPr>
          <p:cNvPr name="Freeform 9" id="9"/>
          <p:cNvSpPr/>
          <p:nvPr/>
        </p:nvSpPr>
        <p:spPr>
          <a:xfrm flipH="false" flipV="false" rot="0">
            <a:off x="2480128" y="3396362"/>
            <a:ext cx="3772638" cy="2549039"/>
          </a:xfrm>
          <a:custGeom>
            <a:avLst/>
            <a:gdLst/>
            <a:ahLst/>
            <a:cxnLst/>
            <a:rect r="r" b="b" t="t" l="l"/>
            <a:pathLst>
              <a:path h="2549039" w="3772638">
                <a:moveTo>
                  <a:pt x="0" y="0"/>
                </a:moveTo>
                <a:lnTo>
                  <a:pt x="3772638" y="0"/>
                </a:lnTo>
                <a:lnTo>
                  <a:pt x="3772638" y="2549039"/>
                </a:lnTo>
                <a:lnTo>
                  <a:pt x="0" y="2549039"/>
                </a:lnTo>
                <a:lnTo>
                  <a:pt x="0" y="0"/>
                </a:lnTo>
                <a:close/>
              </a:path>
            </a:pathLst>
          </a:custGeom>
          <a:blipFill>
            <a:blip r:embed="rId8"/>
            <a:stretch>
              <a:fillRect l="0" t="-11385" r="0" b="-51812"/>
            </a:stretch>
          </a:blipFill>
        </p:spPr>
      </p:sp>
      <p:sp>
        <p:nvSpPr>
          <p:cNvPr name="Freeform 10" id="10"/>
          <p:cNvSpPr/>
          <p:nvPr/>
        </p:nvSpPr>
        <p:spPr>
          <a:xfrm flipH="false" flipV="false" rot="0">
            <a:off x="11105352" y="6122355"/>
            <a:ext cx="1760043" cy="2591175"/>
          </a:xfrm>
          <a:custGeom>
            <a:avLst/>
            <a:gdLst/>
            <a:ahLst/>
            <a:cxnLst/>
            <a:rect r="r" b="b" t="t" l="l"/>
            <a:pathLst>
              <a:path h="2591175" w="1760043">
                <a:moveTo>
                  <a:pt x="0" y="0"/>
                </a:moveTo>
                <a:lnTo>
                  <a:pt x="1760044" y="0"/>
                </a:lnTo>
                <a:lnTo>
                  <a:pt x="1760044" y="2591175"/>
                </a:lnTo>
                <a:lnTo>
                  <a:pt x="0" y="2591175"/>
                </a:lnTo>
                <a:lnTo>
                  <a:pt x="0" y="0"/>
                </a:lnTo>
                <a:close/>
              </a:path>
            </a:pathLst>
          </a:custGeom>
          <a:blipFill>
            <a:blip r:embed="rId9"/>
            <a:stretch>
              <a:fillRect l="0" t="0" r="0" b="0"/>
            </a:stretch>
          </a:blipFill>
        </p:spPr>
      </p:sp>
      <p:sp>
        <p:nvSpPr>
          <p:cNvPr name="TextBox 11" id="11"/>
          <p:cNvSpPr txBox="true"/>
          <p:nvPr/>
        </p:nvSpPr>
        <p:spPr>
          <a:xfrm rot="0">
            <a:off x="6802421" y="4026356"/>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The column thus created has values separated by commas(,).</a:t>
            </a:r>
          </a:p>
        </p:txBody>
      </p:sp>
      <p:sp>
        <p:nvSpPr>
          <p:cNvPr name="TextBox 12" id="12"/>
          <p:cNvSpPr txBox="true"/>
          <p:nvPr/>
        </p:nvSpPr>
        <p:spPr>
          <a:xfrm rot="0">
            <a:off x="5155746" y="832125"/>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Use “Text After Delimiter” now to extract the values after first name, i.e, second name or third name., with comma as delimiter.</a:t>
            </a:r>
          </a:p>
        </p:txBody>
      </p:sp>
      <p:sp>
        <p:nvSpPr>
          <p:cNvPr name="TextBox 13" id="13"/>
          <p:cNvSpPr txBox="true"/>
          <p:nvPr/>
        </p:nvSpPr>
        <p:spPr>
          <a:xfrm rot="0">
            <a:off x="2480128" y="6621676"/>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We can now use “Text Before Delimiter” with comma as delimiter to extract the second name.</a:t>
            </a:r>
          </a:p>
        </p:txBody>
      </p:sp>
      <p:sp>
        <p:nvSpPr>
          <p:cNvPr name="Freeform 14" id="14"/>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1203729" y="435539"/>
            <a:ext cx="3065574" cy="3380314"/>
          </a:xfrm>
          <a:custGeom>
            <a:avLst/>
            <a:gdLst/>
            <a:ahLst/>
            <a:cxnLst/>
            <a:rect r="r" b="b" t="t" l="l"/>
            <a:pathLst>
              <a:path h="3380314" w="3065574">
                <a:moveTo>
                  <a:pt x="0" y="0"/>
                </a:moveTo>
                <a:lnTo>
                  <a:pt x="3065574" y="0"/>
                </a:lnTo>
                <a:lnTo>
                  <a:pt x="3065574" y="3380314"/>
                </a:lnTo>
                <a:lnTo>
                  <a:pt x="0" y="3380314"/>
                </a:lnTo>
                <a:lnTo>
                  <a:pt x="0" y="0"/>
                </a:lnTo>
                <a:close/>
              </a:path>
            </a:pathLst>
          </a:custGeom>
          <a:blipFill>
            <a:blip r:embed="rId6"/>
            <a:stretch>
              <a:fillRect l="0" t="0" r="0" b="0"/>
            </a:stretch>
          </a:blipFill>
        </p:spPr>
      </p:sp>
      <p:sp>
        <p:nvSpPr>
          <p:cNvPr name="Freeform 8" id="8"/>
          <p:cNvSpPr/>
          <p:nvPr/>
        </p:nvSpPr>
        <p:spPr>
          <a:xfrm flipH="false" flipV="false" rot="0">
            <a:off x="2710850" y="4566371"/>
            <a:ext cx="6547393" cy="1851977"/>
          </a:xfrm>
          <a:custGeom>
            <a:avLst/>
            <a:gdLst/>
            <a:ahLst/>
            <a:cxnLst/>
            <a:rect r="r" b="b" t="t" l="l"/>
            <a:pathLst>
              <a:path h="1851977" w="6547393">
                <a:moveTo>
                  <a:pt x="0" y="0"/>
                </a:moveTo>
                <a:lnTo>
                  <a:pt x="6547393" y="0"/>
                </a:lnTo>
                <a:lnTo>
                  <a:pt x="6547393" y="1851977"/>
                </a:lnTo>
                <a:lnTo>
                  <a:pt x="0" y="1851977"/>
                </a:lnTo>
                <a:lnTo>
                  <a:pt x="0" y="0"/>
                </a:lnTo>
                <a:close/>
              </a:path>
            </a:pathLst>
          </a:custGeom>
          <a:blipFill>
            <a:blip r:embed="rId7"/>
            <a:stretch>
              <a:fillRect l="0" t="0" r="0" b="0"/>
            </a:stretch>
          </a:blipFill>
        </p:spPr>
      </p:sp>
      <p:sp>
        <p:nvSpPr>
          <p:cNvPr name="Freeform 9" id="9"/>
          <p:cNvSpPr/>
          <p:nvPr/>
        </p:nvSpPr>
        <p:spPr>
          <a:xfrm flipH="false" flipV="false" rot="0">
            <a:off x="9143471" y="7635658"/>
            <a:ext cx="4120515" cy="841591"/>
          </a:xfrm>
          <a:custGeom>
            <a:avLst/>
            <a:gdLst/>
            <a:ahLst/>
            <a:cxnLst/>
            <a:rect r="r" b="b" t="t" l="l"/>
            <a:pathLst>
              <a:path h="841591" w="4120515">
                <a:moveTo>
                  <a:pt x="0" y="0"/>
                </a:moveTo>
                <a:lnTo>
                  <a:pt x="4120516" y="0"/>
                </a:lnTo>
                <a:lnTo>
                  <a:pt x="4120516" y="841591"/>
                </a:lnTo>
                <a:lnTo>
                  <a:pt x="0" y="841591"/>
                </a:lnTo>
                <a:lnTo>
                  <a:pt x="0" y="0"/>
                </a:lnTo>
                <a:close/>
              </a:path>
            </a:pathLst>
          </a:custGeom>
          <a:blipFill>
            <a:blip r:embed="rId8"/>
            <a:stretch>
              <a:fillRect l="0" t="0" r="0" b="0"/>
            </a:stretch>
          </a:blipFill>
        </p:spPr>
      </p:sp>
      <p:sp>
        <p:nvSpPr>
          <p:cNvPr name="Freeform 10" id="10"/>
          <p:cNvSpPr/>
          <p:nvPr/>
        </p:nvSpPr>
        <p:spPr>
          <a:xfrm flipH="false" flipV="false" rot="0">
            <a:off x="13498003" y="6989543"/>
            <a:ext cx="2767084" cy="2133821"/>
          </a:xfrm>
          <a:custGeom>
            <a:avLst/>
            <a:gdLst/>
            <a:ahLst/>
            <a:cxnLst/>
            <a:rect r="r" b="b" t="t" l="l"/>
            <a:pathLst>
              <a:path h="2133821" w="2767084">
                <a:moveTo>
                  <a:pt x="0" y="0"/>
                </a:moveTo>
                <a:lnTo>
                  <a:pt x="2767084" y="0"/>
                </a:lnTo>
                <a:lnTo>
                  <a:pt x="2767084" y="2133821"/>
                </a:lnTo>
                <a:lnTo>
                  <a:pt x="0" y="2133821"/>
                </a:lnTo>
                <a:lnTo>
                  <a:pt x="0" y="0"/>
                </a:lnTo>
                <a:close/>
              </a:path>
            </a:pathLst>
          </a:custGeom>
          <a:blipFill>
            <a:blip r:embed="rId9"/>
            <a:stretch>
              <a:fillRect l="0" t="0" r="0" b="0"/>
            </a:stretch>
          </a:blipFill>
        </p:spPr>
      </p:sp>
      <p:sp>
        <p:nvSpPr>
          <p:cNvPr name="TextBox 11" id="11"/>
          <p:cNvSpPr txBox="true"/>
          <p:nvPr/>
        </p:nvSpPr>
        <p:spPr>
          <a:xfrm rot="0">
            <a:off x="2710850" y="714097"/>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Let’s move on to extracting the third name. This can be done by using ‘Text After Delimiter” and using comma(,) as delimiter.</a:t>
            </a:r>
          </a:p>
        </p:txBody>
      </p:sp>
      <p:sp>
        <p:nvSpPr>
          <p:cNvPr name="TextBox 12" id="12"/>
          <p:cNvSpPr txBox="true"/>
          <p:nvPr/>
        </p:nvSpPr>
        <p:spPr>
          <a:xfrm rot="0">
            <a:off x="2710850" y="2711648"/>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We can conclude  that the cells have no other name  after scrolling through the values.</a:t>
            </a:r>
          </a:p>
        </p:txBody>
      </p:sp>
      <p:sp>
        <p:nvSpPr>
          <p:cNvPr name="TextBox 13" id="13"/>
          <p:cNvSpPr txBox="true"/>
          <p:nvPr/>
        </p:nvSpPr>
        <p:spPr>
          <a:xfrm rot="0">
            <a:off x="9644378" y="4547797"/>
            <a:ext cx="8001002"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The same conclusion can be reached by using “Text After Delimiter” with comma(,) as delimiter. The column thus formed is empty with no valid values.</a:t>
            </a:r>
          </a:p>
        </p:txBody>
      </p:sp>
      <p:sp>
        <p:nvSpPr>
          <p:cNvPr name="TextBox 14" id="14"/>
          <p:cNvSpPr txBox="true"/>
          <p:nvPr/>
        </p:nvSpPr>
        <p:spPr>
          <a:xfrm rot="0">
            <a:off x="2710850" y="7198692"/>
            <a:ext cx="5648366" cy="175577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Now using “Replace Values” in Transform Tab to remove the commas(,) and the end.</a:t>
            </a:r>
          </a:p>
        </p:txBody>
      </p:sp>
      <p:sp>
        <p:nvSpPr>
          <p:cNvPr name="Freeform 15" id="15"/>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10"/>
            <a:stretch>
              <a:fillRect l="0" t="0" r="-9528"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10810" y="1028700"/>
            <a:ext cx="248490" cy="24849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10376575">
            <a:off x="-699234" y="-3190905"/>
            <a:ext cx="7511977" cy="9699130"/>
          </a:xfrm>
          <a:custGeom>
            <a:avLst/>
            <a:gdLst/>
            <a:ahLst/>
            <a:cxnLst/>
            <a:rect r="r" b="b" t="t" l="l"/>
            <a:pathLst>
              <a:path h="9699130" w="7511977">
                <a:moveTo>
                  <a:pt x="0" y="0"/>
                </a:moveTo>
                <a:lnTo>
                  <a:pt x="7511977" y="0"/>
                </a:lnTo>
                <a:lnTo>
                  <a:pt x="7511977" y="9699130"/>
                </a:lnTo>
                <a:lnTo>
                  <a:pt x="0" y="9699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10800000">
            <a:off x="15632181" y="0"/>
            <a:ext cx="2655819" cy="4132861"/>
          </a:xfrm>
          <a:custGeom>
            <a:avLst/>
            <a:gdLst/>
            <a:ahLst/>
            <a:cxnLst/>
            <a:rect r="r" b="b" t="t" l="l"/>
            <a:pathLst>
              <a:path h="4132861" w="2655819">
                <a:moveTo>
                  <a:pt x="2655819" y="0"/>
                </a:moveTo>
                <a:lnTo>
                  <a:pt x="0" y="0"/>
                </a:lnTo>
                <a:lnTo>
                  <a:pt x="0" y="4132861"/>
                </a:lnTo>
                <a:lnTo>
                  <a:pt x="2655819" y="4132861"/>
                </a:lnTo>
                <a:lnTo>
                  <a:pt x="2655819"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896924" y="764304"/>
            <a:ext cx="2597059" cy="2604253"/>
          </a:xfrm>
          <a:custGeom>
            <a:avLst/>
            <a:gdLst/>
            <a:ahLst/>
            <a:cxnLst/>
            <a:rect r="r" b="b" t="t" l="l"/>
            <a:pathLst>
              <a:path h="2604253" w="2597059">
                <a:moveTo>
                  <a:pt x="0" y="0"/>
                </a:moveTo>
                <a:lnTo>
                  <a:pt x="2597059" y="0"/>
                </a:lnTo>
                <a:lnTo>
                  <a:pt x="2597059" y="2604253"/>
                </a:lnTo>
                <a:lnTo>
                  <a:pt x="0" y="2604253"/>
                </a:lnTo>
                <a:lnTo>
                  <a:pt x="0" y="0"/>
                </a:lnTo>
                <a:close/>
              </a:path>
            </a:pathLst>
          </a:custGeom>
          <a:blipFill>
            <a:blip r:embed="rId6"/>
            <a:stretch>
              <a:fillRect l="0" t="0" r="0" b="0"/>
            </a:stretch>
          </a:blipFill>
        </p:spPr>
      </p:sp>
      <p:sp>
        <p:nvSpPr>
          <p:cNvPr name="Freeform 8" id="8"/>
          <p:cNvSpPr/>
          <p:nvPr/>
        </p:nvSpPr>
        <p:spPr>
          <a:xfrm flipH="false" flipV="false" rot="0">
            <a:off x="2639605" y="5917211"/>
            <a:ext cx="11125812" cy="1652688"/>
          </a:xfrm>
          <a:custGeom>
            <a:avLst/>
            <a:gdLst/>
            <a:ahLst/>
            <a:cxnLst/>
            <a:rect r="r" b="b" t="t" l="l"/>
            <a:pathLst>
              <a:path h="1652688" w="11125812">
                <a:moveTo>
                  <a:pt x="0" y="0"/>
                </a:moveTo>
                <a:lnTo>
                  <a:pt x="11125812" y="0"/>
                </a:lnTo>
                <a:lnTo>
                  <a:pt x="11125812" y="1652689"/>
                </a:lnTo>
                <a:lnTo>
                  <a:pt x="0" y="1652689"/>
                </a:lnTo>
                <a:lnTo>
                  <a:pt x="0" y="0"/>
                </a:lnTo>
                <a:close/>
              </a:path>
            </a:pathLst>
          </a:custGeom>
          <a:blipFill>
            <a:blip r:embed="rId7"/>
            <a:stretch>
              <a:fillRect l="0" t="-1166" r="0" b="-1166"/>
            </a:stretch>
          </a:blipFill>
        </p:spPr>
      </p:sp>
      <p:sp>
        <p:nvSpPr>
          <p:cNvPr name="TextBox 9" id="9"/>
          <p:cNvSpPr txBox="true"/>
          <p:nvPr/>
        </p:nvSpPr>
        <p:spPr>
          <a:xfrm rot="0">
            <a:off x="2639605" y="1721943"/>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We get values like this.</a:t>
            </a:r>
          </a:p>
        </p:txBody>
      </p:sp>
      <p:sp>
        <p:nvSpPr>
          <p:cNvPr name="TextBox 10" id="10"/>
          <p:cNvSpPr txBox="true"/>
          <p:nvPr/>
        </p:nvSpPr>
        <p:spPr>
          <a:xfrm rot="0">
            <a:off x="2639605" y="3999511"/>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Now we can rename the columns , say “narrator1”, narrator2" and “narrator3”.</a:t>
            </a:r>
          </a:p>
        </p:txBody>
      </p:sp>
      <p:sp>
        <p:nvSpPr>
          <p:cNvPr name="Freeform 11" id="11"/>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8"/>
            <a:stretch>
              <a:fillRect l="0" t="0" r="-9528"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083342">
            <a:off x="12347359" y="-1716641"/>
            <a:ext cx="7511977" cy="9699130"/>
          </a:xfrm>
          <a:custGeom>
            <a:avLst/>
            <a:gdLst/>
            <a:ahLst/>
            <a:cxnLst/>
            <a:rect r="r" b="b" t="t" l="l"/>
            <a:pathLst>
              <a:path h="9699130" w="7511977">
                <a:moveTo>
                  <a:pt x="0" y="0"/>
                </a:moveTo>
                <a:lnTo>
                  <a:pt x="7511976" y="0"/>
                </a:lnTo>
                <a:lnTo>
                  <a:pt x="7511976"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51194" y="2234314"/>
            <a:ext cx="6236806" cy="8052686"/>
          </a:xfrm>
          <a:custGeom>
            <a:avLst/>
            <a:gdLst/>
            <a:ahLst/>
            <a:cxnLst/>
            <a:rect r="r" b="b" t="t" l="l"/>
            <a:pathLst>
              <a:path h="8052686" w="6236806">
                <a:moveTo>
                  <a:pt x="0" y="0"/>
                </a:moveTo>
                <a:lnTo>
                  <a:pt x="6236806" y="0"/>
                </a:lnTo>
                <a:lnTo>
                  <a:pt x="6236806" y="8052686"/>
                </a:lnTo>
                <a:lnTo>
                  <a:pt x="0" y="8052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162635" y="2773013"/>
            <a:ext cx="3940712" cy="2065085"/>
          </a:xfrm>
          <a:custGeom>
            <a:avLst/>
            <a:gdLst/>
            <a:ahLst/>
            <a:cxnLst/>
            <a:rect r="r" b="b" t="t" l="l"/>
            <a:pathLst>
              <a:path h="2065085" w="3940712">
                <a:moveTo>
                  <a:pt x="0" y="0"/>
                </a:moveTo>
                <a:lnTo>
                  <a:pt x="3940712" y="0"/>
                </a:lnTo>
                <a:lnTo>
                  <a:pt x="3940712" y="2065084"/>
                </a:lnTo>
                <a:lnTo>
                  <a:pt x="0" y="2065084"/>
                </a:lnTo>
                <a:lnTo>
                  <a:pt x="0" y="0"/>
                </a:lnTo>
                <a:close/>
              </a:path>
            </a:pathLst>
          </a:custGeom>
          <a:blipFill>
            <a:blip r:embed="rId6"/>
            <a:stretch>
              <a:fillRect l="0" t="0" r="0" b="0"/>
            </a:stretch>
          </a:blipFill>
        </p:spPr>
      </p:sp>
      <p:sp>
        <p:nvSpPr>
          <p:cNvPr name="Freeform 6" id="6"/>
          <p:cNvSpPr/>
          <p:nvPr/>
        </p:nvSpPr>
        <p:spPr>
          <a:xfrm flipH="false" flipV="false" rot="0">
            <a:off x="3504444" y="6974856"/>
            <a:ext cx="2841855" cy="2445602"/>
          </a:xfrm>
          <a:custGeom>
            <a:avLst/>
            <a:gdLst/>
            <a:ahLst/>
            <a:cxnLst/>
            <a:rect r="r" b="b" t="t" l="l"/>
            <a:pathLst>
              <a:path h="2445602" w="2841855">
                <a:moveTo>
                  <a:pt x="0" y="0"/>
                </a:moveTo>
                <a:lnTo>
                  <a:pt x="2841855" y="0"/>
                </a:lnTo>
                <a:lnTo>
                  <a:pt x="2841855" y="2445602"/>
                </a:lnTo>
                <a:lnTo>
                  <a:pt x="0" y="2445602"/>
                </a:lnTo>
                <a:lnTo>
                  <a:pt x="0" y="0"/>
                </a:lnTo>
                <a:close/>
              </a:path>
            </a:pathLst>
          </a:custGeom>
          <a:blipFill>
            <a:blip r:embed="rId7"/>
            <a:stretch>
              <a:fillRect l="0" t="0" r="-1298" b="0"/>
            </a:stretch>
          </a:blipFill>
        </p:spPr>
      </p:sp>
      <p:sp>
        <p:nvSpPr>
          <p:cNvPr name="Freeform 7" id="7"/>
          <p:cNvSpPr/>
          <p:nvPr/>
        </p:nvSpPr>
        <p:spPr>
          <a:xfrm flipH="false" flipV="false" rot="0">
            <a:off x="3504444" y="5205441"/>
            <a:ext cx="5076332" cy="1188390"/>
          </a:xfrm>
          <a:custGeom>
            <a:avLst/>
            <a:gdLst/>
            <a:ahLst/>
            <a:cxnLst/>
            <a:rect r="r" b="b" t="t" l="l"/>
            <a:pathLst>
              <a:path h="1188390" w="5076332">
                <a:moveTo>
                  <a:pt x="0" y="0"/>
                </a:moveTo>
                <a:lnTo>
                  <a:pt x="5076332" y="0"/>
                </a:lnTo>
                <a:lnTo>
                  <a:pt x="5076332" y="1188390"/>
                </a:lnTo>
                <a:lnTo>
                  <a:pt x="0" y="1188390"/>
                </a:lnTo>
                <a:lnTo>
                  <a:pt x="0" y="0"/>
                </a:lnTo>
                <a:close/>
              </a:path>
            </a:pathLst>
          </a:custGeom>
          <a:blipFill>
            <a:blip r:embed="rId8"/>
            <a:stretch>
              <a:fillRect l="0" t="0" r="0" b="0"/>
            </a:stretch>
          </a:blipFill>
        </p:spPr>
      </p:sp>
      <p:sp>
        <p:nvSpPr>
          <p:cNvPr name="TextBox 8" id="8"/>
          <p:cNvSpPr txBox="true"/>
          <p:nvPr/>
        </p:nvSpPr>
        <p:spPr>
          <a:xfrm rot="0">
            <a:off x="3504444" y="1248615"/>
            <a:ext cx="13630611" cy="1468132"/>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MERGE THE RELEASEDATE AND LANGUAGE COLUMNS INTO A SINGLE NEW COLUMN NAMED RELEASEINFO WITH THE FORMAT "DD-MM-YYYY, LANGUAGE."</a:t>
            </a:r>
          </a:p>
          <a:p>
            <a:pPr algn="just" marL="0" indent="0" lvl="0">
              <a:lnSpc>
                <a:spcPts val="610"/>
              </a:lnSpc>
            </a:pPr>
          </a:p>
        </p:txBody>
      </p:sp>
      <p:sp>
        <p:nvSpPr>
          <p:cNvPr name="TextBox 9" id="9"/>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08</a:t>
            </a:r>
          </a:p>
        </p:txBody>
      </p:sp>
      <p:sp>
        <p:nvSpPr>
          <p:cNvPr name="TextBox 10" id="10"/>
          <p:cNvSpPr txBox="true"/>
          <p:nvPr/>
        </p:nvSpPr>
        <p:spPr>
          <a:xfrm rot="0">
            <a:off x="3504444" y="3161030"/>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Start with selecting both “releasedate” and “language” column.</a:t>
            </a:r>
          </a:p>
        </p:txBody>
      </p:sp>
      <p:sp>
        <p:nvSpPr>
          <p:cNvPr name="TextBox 11" id="11"/>
          <p:cNvSpPr txBox="true"/>
          <p:nvPr/>
        </p:nvSpPr>
        <p:spPr>
          <a:xfrm rot="0">
            <a:off x="9134053" y="5561286"/>
            <a:ext cx="8001002" cy="555625"/>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Click on “Merge Columns” in Add Column</a:t>
            </a:r>
          </a:p>
        </p:txBody>
      </p:sp>
      <p:sp>
        <p:nvSpPr>
          <p:cNvPr name="TextBox 12" id="12"/>
          <p:cNvSpPr txBox="true"/>
          <p:nvPr/>
        </p:nvSpPr>
        <p:spPr>
          <a:xfrm rot="0">
            <a:off x="7718028" y="7553132"/>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Select “Custom” in Separator option in Merge Columns dialog box.</a:t>
            </a:r>
          </a:p>
        </p:txBody>
      </p:sp>
      <p:sp>
        <p:nvSpPr>
          <p:cNvPr name="Freeform 13" id="13"/>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9"/>
            <a:stretch>
              <a:fillRect l="0" t="0" r="-9528"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083342">
            <a:off x="12347359" y="-1716641"/>
            <a:ext cx="7511977" cy="9699130"/>
          </a:xfrm>
          <a:custGeom>
            <a:avLst/>
            <a:gdLst/>
            <a:ahLst/>
            <a:cxnLst/>
            <a:rect r="r" b="b" t="t" l="l"/>
            <a:pathLst>
              <a:path h="9699130" w="7511977">
                <a:moveTo>
                  <a:pt x="0" y="0"/>
                </a:moveTo>
                <a:lnTo>
                  <a:pt x="7511976" y="0"/>
                </a:lnTo>
                <a:lnTo>
                  <a:pt x="7511976"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51194" y="2234314"/>
            <a:ext cx="6236806" cy="8052686"/>
          </a:xfrm>
          <a:custGeom>
            <a:avLst/>
            <a:gdLst/>
            <a:ahLst/>
            <a:cxnLst/>
            <a:rect r="r" b="b" t="t" l="l"/>
            <a:pathLst>
              <a:path h="8052686" w="6236806">
                <a:moveTo>
                  <a:pt x="0" y="0"/>
                </a:moveTo>
                <a:lnTo>
                  <a:pt x="6236806" y="0"/>
                </a:lnTo>
                <a:lnTo>
                  <a:pt x="6236806" y="8052686"/>
                </a:lnTo>
                <a:lnTo>
                  <a:pt x="0" y="8052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1304298" y="473628"/>
            <a:ext cx="3680407" cy="2659296"/>
          </a:xfrm>
          <a:custGeom>
            <a:avLst/>
            <a:gdLst/>
            <a:ahLst/>
            <a:cxnLst/>
            <a:rect r="r" b="b" t="t" l="l"/>
            <a:pathLst>
              <a:path h="2659296" w="3680407">
                <a:moveTo>
                  <a:pt x="0" y="0"/>
                </a:moveTo>
                <a:lnTo>
                  <a:pt x="3680407" y="0"/>
                </a:lnTo>
                <a:lnTo>
                  <a:pt x="3680407" y="2659296"/>
                </a:lnTo>
                <a:lnTo>
                  <a:pt x="0" y="2659296"/>
                </a:lnTo>
                <a:lnTo>
                  <a:pt x="0" y="0"/>
                </a:lnTo>
                <a:close/>
              </a:path>
            </a:pathLst>
          </a:custGeom>
          <a:blipFill>
            <a:blip r:embed="rId6"/>
            <a:stretch>
              <a:fillRect l="0" t="0" r="0" b="0"/>
            </a:stretch>
          </a:blipFill>
        </p:spPr>
      </p:sp>
      <p:sp>
        <p:nvSpPr>
          <p:cNvPr name="Freeform 6" id="6"/>
          <p:cNvSpPr/>
          <p:nvPr/>
        </p:nvSpPr>
        <p:spPr>
          <a:xfrm flipH="false" flipV="false" rot="0">
            <a:off x="2413064" y="3525030"/>
            <a:ext cx="2587987" cy="4306153"/>
          </a:xfrm>
          <a:custGeom>
            <a:avLst/>
            <a:gdLst/>
            <a:ahLst/>
            <a:cxnLst/>
            <a:rect r="r" b="b" t="t" l="l"/>
            <a:pathLst>
              <a:path h="4306153" w="2587987">
                <a:moveTo>
                  <a:pt x="0" y="0"/>
                </a:moveTo>
                <a:lnTo>
                  <a:pt x="2587988" y="0"/>
                </a:lnTo>
                <a:lnTo>
                  <a:pt x="2587988" y="4306154"/>
                </a:lnTo>
                <a:lnTo>
                  <a:pt x="0" y="4306154"/>
                </a:lnTo>
                <a:lnTo>
                  <a:pt x="0" y="0"/>
                </a:lnTo>
                <a:close/>
              </a:path>
            </a:pathLst>
          </a:custGeom>
          <a:blipFill>
            <a:blip r:embed="rId7"/>
            <a:stretch>
              <a:fillRect l="0" t="0" r="0" b="0"/>
            </a:stretch>
          </a:blipFill>
        </p:spPr>
      </p:sp>
      <p:sp>
        <p:nvSpPr>
          <p:cNvPr name="TextBox 7" id="7"/>
          <p:cNvSpPr txBox="true"/>
          <p:nvPr/>
        </p:nvSpPr>
        <p:spPr>
          <a:xfrm rot="0">
            <a:off x="2413064" y="1158751"/>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Give “, “ as the separator and name the column as “releaseinfo”.</a:t>
            </a:r>
          </a:p>
        </p:txBody>
      </p:sp>
      <p:sp>
        <p:nvSpPr>
          <p:cNvPr name="TextBox 8" id="8"/>
          <p:cNvSpPr txBox="true"/>
          <p:nvPr/>
        </p:nvSpPr>
        <p:spPr>
          <a:xfrm rot="0">
            <a:off x="5627865" y="4798821"/>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We get a column like this with value in the fashion “06-11-2020, English”.</a:t>
            </a:r>
          </a:p>
        </p:txBody>
      </p:sp>
      <p:sp>
        <p:nvSpPr>
          <p:cNvPr name="Freeform 9" id="9"/>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8"/>
            <a:stretch>
              <a:fillRect l="0" t="0" r="-9528"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376575">
            <a:off x="-832584" y="-3562851"/>
            <a:ext cx="7511977" cy="9699130"/>
          </a:xfrm>
          <a:custGeom>
            <a:avLst/>
            <a:gdLst/>
            <a:ahLst/>
            <a:cxnLst/>
            <a:rect r="r" b="b" t="t" l="l"/>
            <a:pathLst>
              <a:path h="9699130" w="7511977">
                <a:moveTo>
                  <a:pt x="0" y="0"/>
                </a:moveTo>
                <a:lnTo>
                  <a:pt x="7511977" y="0"/>
                </a:lnTo>
                <a:lnTo>
                  <a:pt x="7511977"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505412">
            <a:off x="11698623" y="-3293298"/>
            <a:ext cx="7511977" cy="9699130"/>
          </a:xfrm>
          <a:custGeom>
            <a:avLst/>
            <a:gdLst/>
            <a:ahLst/>
            <a:cxnLst/>
            <a:rect r="r" b="b" t="t" l="l"/>
            <a:pathLst>
              <a:path h="9699130" w="7511977">
                <a:moveTo>
                  <a:pt x="7511976" y="0"/>
                </a:moveTo>
                <a:lnTo>
                  <a:pt x="0" y="0"/>
                </a:lnTo>
                <a:lnTo>
                  <a:pt x="0" y="9699130"/>
                </a:lnTo>
                <a:lnTo>
                  <a:pt x="7511976" y="9699130"/>
                </a:lnTo>
                <a:lnTo>
                  <a:pt x="751197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19994">
            <a:off x="9681474" y="2406767"/>
            <a:ext cx="8754851" cy="11303875"/>
          </a:xfrm>
          <a:custGeom>
            <a:avLst/>
            <a:gdLst/>
            <a:ahLst/>
            <a:cxnLst/>
            <a:rect r="r" b="b" t="t" l="l"/>
            <a:pathLst>
              <a:path h="11303875" w="8754851">
                <a:moveTo>
                  <a:pt x="0" y="0"/>
                </a:moveTo>
                <a:lnTo>
                  <a:pt x="8754852" y="0"/>
                </a:lnTo>
                <a:lnTo>
                  <a:pt x="8754852" y="11303875"/>
                </a:lnTo>
                <a:lnTo>
                  <a:pt x="0" y="11303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504444" y="3388236"/>
            <a:ext cx="3566080" cy="2107786"/>
          </a:xfrm>
          <a:custGeom>
            <a:avLst/>
            <a:gdLst/>
            <a:ahLst/>
            <a:cxnLst/>
            <a:rect r="r" b="b" t="t" l="l"/>
            <a:pathLst>
              <a:path h="2107786" w="3566080">
                <a:moveTo>
                  <a:pt x="0" y="0"/>
                </a:moveTo>
                <a:lnTo>
                  <a:pt x="3566080" y="0"/>
                </a:lnTo>
                <a:lnTo>
                  <a:pt x="3566080" y="2107786"/>
                </a:lnTo>
                <a:lnTo>
                  <a:pt x="0" y="2107786"/>
                </a:lnTo>
                <a:lnTo>
                  <a:pt x="0" y="0"/>
                </a:lnTo>
                <a:close/>
              </a:path>
            </a:pathLst>
          </a:custGeom>
          <a:blipFill>
            <a:blip r:embed="rId4"/>
            <a:stretch>
              <a:fillRect l="0" t="0" r="0" b="0"/>
            </a:stretch>
          </a:blipFill>
        </p:spPr>
      </p:sp>
      <p:sp>
        <p:nvSpPr>
          <p:cNvPr name="Freeform 6" id="6"/>
          <p:cNvSpPr/>
          <p:nvPr/>
        </p:nvSpPr>
        <p:spPr>
          <a:xfrm flipH="false" flipV="false" rot="0">
            <a:off x="13134572" y="6162772"/>
            <a:ext cx="3400493" cy="3095528"/>
          </a:xfrm>
          <a:custGeom>
            <a:avLst/>
            <a:gdLst/>
            <a:ahLst/>
            <a:cxnLst/>
            <a:rect r="r" b="b" t="t" l="l"/>
            <a:pathLst>
              <a:path h="3095528" w="3400493">
                <a:moveTo>
                  <a:pt x="0" y="0"/>
                </a:moveTo>
                <a:lnTo>
                  <a:pt x="3400493" y="0"/>
                </a:lnTo>
                <a:lnTo>
                  <a:pt x="3400493" y="3095528"/>
                </a:lnTo>
                <a:lnTo>
                  <a:pt x="0" y="3095528"/>
                </a:lnTo>
                <a:lnTo>
                  <a:pt x="0" y="0"/>
                </a:lnTo>
                <a:close/>
              </a:path>
            </a:pathLst>
          </a:custGeom>
          <a:blipFill>
            <a:blip r:embed="rId5"/>
            <a:stretch>
              <a:fillRect l="-4574" t="0" r="-4574" b="0"/>
            </a:stretch>
          </a:blipFill>
        </p:spPr>
      </p:sp>
      <p:sp>
        <p:nvSpPr>
          <p:cNvPr name="Freeform 7" id="7"/>
          <p:cNvSpPr/>
          <p:nvPr/>
        </p:nvSpPr>
        <p:spPr>
          <a:xfrm flipH="false" flipV="false" rot="0">
            <a:off x="3504444" y="6162772"/>
            <a:ext cx="2580998" cy="3095528"/>
          </a:xfrm>
          <a:custGeom>
            <a:avLst/>
            <a:gdLst/>
            <a:ahLst/>
            <a:cxnLst/>
            <a:rect r="r" b="b" t="t" l="l"/>
            <a:pathLst>
              <a:path h="3095528" w="2580998">
                <a:moveTo>
                  <a:pt x="0" y="0"/>
                </a:moveTo>
                <a:lnTo>
                  <a:pt x="2580998" y="0"/>
                </a:lnTo>
                <a:lnTo>
                  <a:pt x="2580998" y="3095528"/>
                </a:lnTo>
                <a:lnTo>
                  <a:pt x="0" y="3095528"/>
                </a:lnTo>
                <a:lnTo>
                  <a:pt x="0" y="0"/>
                </a:lnTo>
                <a:close/>
              </a:path>
            </a:pathLst>
          </a:custGeom>
          <a:blipFill>
            <a:blip r:embed="rId6"/>
            <a:stretch>
              <a:fillRect l="0" t="-37971" r="0" b="-743"/>
            </a:stretch>
          </a:blipFill>
        </p:spPr>
      </p:sp>
      <p:sp>
        <p:nvSpPr>
          <p:cNvPr name="TextBox 8" id="8"/>
          <p:cNvSpPr txBox="true"/>
          <p:nvPr/>
        </p:nvSpPr>
        <p:spPr>
          <a:xfrm rot="0">
            <a:off x="3504444" y="1248615"/>
            <a:ext cx="13630611" cy="1468132"/>
          </a:xfrm>
          <a:prstGeom prst="rect">
            <a:avLst/>
          </a:prstGeom>
        </p:spPr>
        <p:txBody>
          <a:bodyPr anchor="t" rtlCol="false" tIns="0" lIns="0" bIns="0" rIns="0">
            <a:spAutoFit/>
          </a:bodyPr>
          <a:lstStyle/>
          <a:p>
            <a:pPr algn="just">
              <a:lnSpc>
                <a:spcPts val="3533"/>
              </a:lnSpc>
            </a:pPr>
            <a:r>
              <a:rPr lang="en-US" b="true" sz="3019" spc="150">
                <a:solidFill>
                  <a:srgbClr val="000000"/>
                </a:solidFill>
                <a:latin typeface="Helios Extended Bold"/>
                <a:ea typeface="Helios Extended Bold"/>
                <a:cs typeface="Helios Extended Bold"/>
                <a:sym typeface="Helios Extended Bold"/>
              </a:rPr>
              <a:t>ENSURE ALL CURRENCY VALUES IN THE PRICE COLUMN ARE FORMATTED CONSISTENTLY WITH TWO DECIMAL PLACES.</a:t>
            </a:r>
          </a:p>
          <a:p>
            <a:pPr algn="just" marL="0" indent="0" lvl="0">
              <a:lnSpc>
                <a:spcPts val="610"/>
              </a:lnSpc>
            </a:pPr>
          </a:p>
        </p:txBody>
      </p:sp>
      <p:sp>
        <p:nvSpPr>
          <p:cNvPr name="TextBox 9" id="9"/>
          <p:cNvSpPr txBox="true"/>
          <p:nvPr/>
        </p:nvSpPr>
        <p:spPr>
          <a:xfrm rot="0">
            <a:off x="2256564" y="1176258"/>
            <a:ext cx="4269076" cy="960320"/>
          </a:xfrm>
          <a:prstGeom prst="rect">
            <a:avLst/>
          </a:prstGeom>
        </p:spPr>
        <p:txBody>
          <a:bodyPr anchor="t" rtlCol="false" tIns="0" lIns="0" bIns="0" rIns="0">
            <a:spAutoFit/>
          </a:bodyPr>
          <a:lstStyle/>
          <a:p>
            <a:pPr algn="l" marL="0" indent="0" lvl="0">
              <a:lnSpc>
                <a:spcPts val="7509"/>
              </a:lnSpc>
            </a:pPr>
            <a:r>
              <a:rPr lang="en-US" b="true" sz="5363" spc="268">
                <a:solidFill>
                  <a:srgbClr val="AD5330"/>
                </a:solidFill>
                <a:latin typeface="Helios Extended Bold"/>
                <a:ea typeface="Helios Extended Bold"/>
                <a:cs typeface="Helios Extended Bold"/>
                <a:sym typeface="Helios Extended Bold"/>
              </a:rPr>
              <a:t>09</a:t>
            </a:r>
          </a:p>
        </p:txBody>
      </p:sp>
      <p:sp>
        <p:nvSpPr>
          <p:cNvPr name="TextBox 10" id="10"/>
          <p:cNvSpPr txBox="true"/>
          <p:nvPr/>
        </p:nvSpPr>
        <p:spPr>
          <a:xfrm rot="0">
            <a:off x="8534063" y="3797604"/>
            <a:ext cx="8001002"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Click on “Currency” on the format option on the price column left side.</a:t>
            </a:r>
          </a:p>
        </p:txBody>
      </p:sp>
      <p:sp>
        <p:nvSpPr>
          <p:cNvPr name="TextBox 11" id="11"/>
          <p:cNvSpPr txBox="true"/>
          <p:nvPr/>
        </p:nvSpPr>
        <p:spPr>
          <a:xfrm rot="0">
            <a:off x="6848551" y="6764614"/>
            <a:ext cx="6063537" cy="1155700"/>
          </a:xfrm>
          <a:prstGeom prst="rect">
            <a:avLst/>
          </a:prstGeom>
        </p:spPr>
        <p:txBody>
          <a:bodyPr anchor="t" rtlCol="false" tIns="0" lIns="0" bIns="0" rIns="0">
            <a:spAutoFit/>
          </a:bodyPr>
          <a:lstStyle/>
          <a:p>
            <a:pPr algn="just" marL="0" indent="0" lvl="0">
              <a:lnSpc>
                <a:spcPts val="4759"/>
              </a:lnSpc>
            </a:pPr>
            <a:r>
              <a:rPr lang="en-US" sz="2799">
                <a:solidFill>
                  <a:srgbClr val="000000"/>
                </a:solidFill>
                <a:latin typeface="Guild A Display"/>
                <a:ea typeface="Guild A Display"/>
                <a:cs typeface="Guild A Display"/>
                <a:sym typeface="Guild A Display"/>
              </a:rPr>
              <a:t>It will change the values to decimal number with two decimal places.</a:t>
            </a:r>
          </a:p>
        </p:txBody>
      </p:sp>
      <p:sp>
        <p:nvSpPr>
          <p:cNvPr name="Freeform 12" id="12"/>
          <p:cNvSpPr/>
          <p:nvPr/>
        </p:nvSpPr>
        <p:spPr>
          <a:xfrm flipH="false" flipV="false" rot="0">
            <a:off x="16361003" y="0"/>
            <a:ext cx="1936522" cy="1438332"/>
          </a:xfrm>
          <a:custGeom>
            <a:avLst/>
            <a:gdLst/>
            <a:ahLst/>
            <a:cxnLst/>
            <a:rect r="r" b="b" t="t" l="l"/>
            <a:pathLst>
              <a:path h="1438332" w="1936522">
                <a:moveTo>
                  <a:pt x="0" y="0"/>
                </a:moveTo>
                <a:lnTo>
                  <a:pt x="1936522" y="0"/>
                </a:lnTo>
                <a:lnTo>
                  <a:pt x="1936522" y="1438332"/>
                </a:lnTo>
                <a:lnTo>
                  <a:pt x="0" y="1438332"/>
                </a:lnTo>
                <a:lnTo>
                  <a:pt x="0" y="0"/>
                </a:lnTo>
                <a:close/>
              </a:path>
            </a:pathLst>
          </a:custGeom>
          <a:blipFill>
            <a:blip r:embed="rId7"/>
            <a:stretch>
              <a:fillRect l="0" t="0" r="-9528"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083342">
            <a:off x="12347359" y="-1716641"/>
            <a:ext cx="7511977" cy="9699130"/>
          </a:xfrm>
          <a:custGeom>
            <a:avLst/>
            <a:gdLst/>
            <a:ahLst/>
            <a:cxnLst/>
            <a:rect r="r" b="b" t="t" l="l"/>
            <a:pathLst>
              <a:path h="9699130" w="7511977">
                <a:moveTo>
                  <a:pt x="0" y="0"/>
                </a:moveTo>
                <a:lnTo>
                  <a:pt x="7511976" y="0"/>
                </a:lnTo>
                <a:lnTo>
                  <a:pt x="7511976" y="9699131"/>
                </a:lnTo>
                <a:lnTo>
                  <a:pt x="0" y="9699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051194" y="2234314"/>
            <a:ext cx="6236806" cy="8052686"/>
          </a:xfrm>
          <a:custGeom>
            <a:avLst/>
            <a:gdLst/>
            <a:ahLst/>
            <a:cxnLst/>
            <a:rect r="r" b="b" t="t" l="l"/>
            <a:pathLst>
              <a:path h="8052686" w="6236806">
                <a:moveTo>
                  <a:pt x="0" y="0"/>
                </a:moveTo>
                <a:lnTo>
                  <a:pt x="6236806" y="0"/>
                </a:lnTo>
                <a:lnTo>
                  <a:pt x="6236806" y="8052686"/>
                </a:lnTo>
                <a:lnTo>
                  <a:pt x="0" y="8052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00000">
            <a:off x="0" y="0"/>
            <a:ext cx="2655819" cy="4132861"/>
          </a:xfrm>
          <a:custGeom>
            <a:avLst/>
            <a:gdLst/>
            <a:ahLst/>
            <a:cxnLst/>
            <a:rect r="r" b="b" t="t" l="l"/>
            <a:pathLst>
              <a:path h="4132861" w="2655819">
                <a:moveTo>
                  <a:pt x="0" y="0"/>
                </a:moveTo>
                <a:lnTo>
                  <a:pt x="2655819" y="0"/>
                </a:lnTo>
                <a:lnTo>
                  <a:pt x="2655819" y="4132861"/>
                </a:lnTo>
                <a:lnTo>
                  <a:pt x="0" y="41328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7742308" y="8799500"/>
            <a:ext cx="3086100" cy="917600"/>
            <a:chOff x="0" y="0"/>
            <a:chExt cx="812800" cy="241673"/>
          </a:xfrm>
        </p:grpSpPr>
        <p:sp>
          <p:nvSpPr>
            <p:cNvPr name="Freeform 6" id="6"/>
            <p:cNvSpPr/>
            <p:nvPr/>
          </p:nvSpPr>
          <p:spPr>
            <a:xfrm flipH="false" flipV="false" rot="0">
              <a:off x="0" y="0"/>
              <a:ext cx="812800" cy="241673"/>
            </a:xfrm>
            <a:custGeom>
              <a:avLst/>
              <a:gdLst/>
              <a:ahLst/>
              <a:cxnLst/>
              <a:rect r="r" b="b" t="t" l="l"/>
              <a:pathLst>
                <a:path h="241673" w="812800">
                  <a:moveTo>
                    <a:pt x="50173" y="0"/>
                  </a:moveTo>
                  <a:lnTo>
                    <a:pt x="762627" y="0"/>
                  </a:lnTo>
                  <a:cubicBezTo>
                    <a:pt x="775934" y="0"/>
                    <a:pt x="788695" y="5286"/>
                    <a:pt x="798105" y="14695"/>
                  </a:cubicBezTo>
                  <a:cubicBezTo>
                    <a:pt x="807514" y="24105"/>
                    <a:pt x="812800" y="36866"/>
                    <a:pt x="812800" y="50173"/>
                  </a:cubicBezTo>
                  <a:lnTo>
                    <a:pt x="812800" y="191500"/>
                  </a:lnTo>
                  <a:cubicBezTo>
                    <a:pt x="812800" y="204806"/>
                    <a:pt x="807514" y="217568"/>
                    <a:pt x="798105" y="226977"/>
                  </a:cubicBezTo>
                  <a:cubicBezTo>
                    <a:pt x="788695" y="236386"/>
                    <a:pt x="775934" y="241673"/>
                    <a:pt x="762627" y="241673"/>
                  </a:cubicBezTo>
                  <a:lnTo>
                    <a:pt x="50173" y="241673"/>
                  </a:lnTo>
                  <a:cubicBezTo>
                    <a:pt x="36866" y="241673"/>
                    <a:pt x="24105" y="236386"/>
                    <a:pt x="14695" y="226977"/>
                  </a:cubicBezTo>
                  <a:cubicBezTo>
                    <a:pt x="5286" y="217568"/>
                    <a:pt x="0" y="204806"/>
                    <a:pt x="0" y="191500"/>
                  </a:cubicBezTo>
                  <a:lnTo>
                    <a:pt x="0" y="50173"/>
                  </a:lnTo>
                  <a:cubicBezTo>
                    <a:pt x="0" y="36866"/>
                    <a:pt x="5286" y="24105"/>
                    <a:pt x="14695" y="14695"/>
                  </a:cubicBezTo>
                  <a:cubicBezTo>
                    <a:pt x="24105" y="5286"/>
                    <a:pt x="36866" y="0"/>
                    <a:pt x="50173" y="0"/>
                  </a:cubicBezTo>
                  <a:close/>
                </a:path>
              </a:pathLst>
            </a:custGeom>
            <a:solidFill>
              <a:srgbClr val="E97142"/>
            </a:solidFill>
          </p:spPr>
        </p:sp>
        <p:sp>
          <p:nvSpPr>
            <p:cNvPr name="TextBox 7" id="7"/>
            <p:cNvSpPr txBox="true"/>
            <p:nvPr/>
          </p:nvSpPr>
          <p:spPr>
            <a:xfrm>
              <a:off x="0" y="-47625"/>
              <a:ext cx="812800" cy="289298"/>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Made by- MAYANK SINGH</a:t>
              </a:r>
            </a:p>
          </p:txBody>
        </p:sp>
      </p:grpSp>
      <p:sp>
        <p:nvSpPr>
          <p:cNvPr name="TextBox 8" id="8"/>
          <p:cNvSpPr txBox="true"/>
          <p:nvPr/>
        </p:nvSpPr>
        <p:spPr>
          <a:xfrm rot="0">
            <a:off x="2467370" y="2263017"/>
            <a:ext cx="13635977" cy="2265643"/>
          </a:xfrm>
          <a:prstGeom prst="rect">
            <a:avLst/>
          </a:prstGeom>
        </p:spPr>
        <p:txBody>
          <a:bodyPr anchor="t" rtlCol="false" tIns="0" lIns="0" bIns="0" rIns="0">
            <a:spAutoFit/>
          </a:bodyPr>
          <a:lstStyle/>
          <a:p>
            <a:pPr algn="l" marL="0" indent="0" lvl="0">
              <a:lnSpc>
                <a:spcPts val="17897"/>
              </a:lnSpc>
            </a:pPr>
            <a:r>
              <a:rPr lang="en-US" b="true" sz="12784" spc="639">
                <a:solidFill>
                  <a:srgbClr val="000000"/>
                </a:solidFill>
                <a:latin typeface="Helios Extended Bold"/>
                <a:ea typeface="Helios Extended Bold"/>
                <a:cs typeface="Helios Extended Bold"/>
                <a:sym typeface="Helios Extended Bold"/>
              </a:rPr>
              <a:t>THANK YOU!</a:t>
            </a:r>
          </a:p>
        </p:txBody>
      </p:sp>
      <p:grpSp>
        <p:nvGrpSpPr>
          <p:cNvPr name="Group 9" id="9"/>
          <p:cNvGrpSpPr/>
          <p:nvPr/>
        </p:nvGrpSpPr>
        <p:grpSpPr>
          <a:xfrm rot="0">
            <a:off x="3782998" y="4805416"/>
            <a:ext cx="11004720" cy="1337062"/>
            <a:chOff x="0" y="0"/>
            <a:chExt cx="14672960" cy="1782749"/>
          </a:xfrm>
        </p:grpSpPr>
        <p:sp>
          <p:nvSpPr>
            <p:cNvPr name="TextBox 10" id="10"/>
            <p:cNvSpPr txBox="true"/>
            <p:nvPr/>
          </p:nvSpPr>
          <p:spPr>
            <a:xfrm rot="0">
              <a:off x="0" y="-266700"/>
              <a:ext cx="14672960" cy="1680371"/>
            </a:xfrm>
            <a:prstGeom prst="rect">
              <a:avLst/>
            </a:prstGeom>
          </p:spPr>
          <p:txBody>
            <a:bodyPr anchor="t" rtlCol="false" tIns="0" lIns="0" bIns="0" rIns="0">
              <a:spAutoFit/>
            </a:bodyPr>
            <a:lstStyle/>
            <a:p>
              <a:pPr algn="ctr">
                <a:lnSpc>
                  <a:spcPts val="9810"/>
                </a:lnSpc>
                <a:spcBef>
                  <a:spcPct val="0"/>
                </a:spcBef>
              </a:pPr>
              <a:r>
                <a:rPr lang="en-US" sz="7007">
                  <a:solidFill>
                    <a:srgbClr val="FFC700"/>
                  </a:solidFill>
                  <a:latin typeface="Impact"/>
                  <a:ea typeface="Impact"/>
                  <a:cs typeface="Impact"/>
                  <a:sym typeface="Impact"/>
                </a:rPr>
                <a:t>Awaiting Feedback</a:t>
              </a:r>
            </a:p>
          </p:txBody>
        </p:sp>
        <p:sp>
          <p:nvSpPr>
            <p:cNvPr name="TextBox 11" id="11"/>
            <p:cNvSpPr txBox="true"/>
            <p:nvPr/>
          </p:nvSpPr>
          <p:spPr>
            <a:xfrm rot="0">
              <a:off x="0" y="602606"/>
              <a:ext cx="14655188" cy="1180143"/>
            </a:xfrm>
            <a:prstGeom prst="rect">
              <a:avLst/>
            </a:prstGeom>
          </p:spPr>
          <p:txBody>
            <a:bodyPr anchor="t" rtlCol="false" tIns="0" lIns="0" bIns="0" rIns="0">
              <a:spAutoFit/>
            </a:bodyPr>
            <a:lstStyle/>
            <a:p>
              <a:pPr algn="ctr">
                <a:lnSpc>
                  <a:spcPts val="738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DAHUyBceaxg</dc:identifier>
  <dcterms:modified xsi:type="dcterms:W3CDTF">2011-08-01T06:04:30Z</dcterms:modified>
  <cp:revision>1</cp:revision>
  <dc:title>Audible Data Cleaning Project</dc:title>
</cp:coreProperties>
</file>